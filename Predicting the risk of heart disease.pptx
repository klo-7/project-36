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73" r:id="rId2"/>
  </p:sldMasterIdLst>
  <p:notesMasterIdLst>
    <p:notesMasterId r:id="rId22"/>
  </p:notesMasterIdLst>
  <p:sldIdLst>
    <p:sldId id="448" r:id="rId3"/>
    <p:sldId id="347" r:id="rId4"/>
    <p:sldId id="353" r:id="rId5"/>
    <p:sldId id="507" r:id="rId6"/>
    <p:sldId id="493" r:id="rId7"/>
    <p:sldId id="479" r:id="rId8"/>
    <p:sldId id="494" r:id="rId9"/>
    <p:sldId id="495" r:id="rId10"/>
    <p:sldId id="497" r:id="rId11"/>
    <p:sldId id="498" r:id="rId12"/>
    <p:sldId id="499" r:id="rId13"/>
    <p:sldId id="500" r:id="rId14"/>
    <p:sldId id="501" r:id="rId15"/>
    <p:sldId id="502" r:id="rId16"/>
    <p:sldId id="503" r:id="rId17"/>
    <p:sldId id="504" r:id="rId18"/>
    <p:sldId id="505" r:id="rId19"/>
    <p:sldId id="506" r:id="rId20"/>
    <p:sldId id="44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9F9"/>
    <a:srgbClr val="4890A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69" autoAdjust="0"/>
    <p:restoredTop sz="94660"/>
  </p:normalViewPr>
  <p:slideViewPr>
    <p:cSldViewPr snapToGrid="0" showGuides="1">
      <p:cViewPr varScale="1">
        <p:scale>
          <a:sx n="58" d="100"/>
          <a:sy n="58" d="100"/>
        </p:scale>
        <p:origin x="904" y="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AF045-FEF6-43EA-9CDC-C84FC3F85E9C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F1279-6CE4-4169-83D3-4483097B6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89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i="0" dirty="0">
              <a:effectLst/>
              <a:latin typeface="Segoe UI" panose="020B0502040204020203" pitchFamily="34" charset="0"/>
            </a:endParaRPr>
          </a:p>
          <a:p>
            <a:r>
              <a:rPr lang="en-US" dirty="0"/>
              <a:t>ID=d924773e-9a16-4d6d-9803-8cb819e99682
Recipe=text_billboard
Type=TextOnly
Variant=0
FamilyID=AccentBoxWalbaum_Zero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A36B1-75F6-458C-B388-8BC01E9857C8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205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i="0" dirty="0">
              <a:effectLst/>
              <a:latin typeface="Segoe UI" panose="020B0502040204020203" pitchFamily="34" charset="0"/>
            </a:endParaRPr>
          </a:p>
          <a:p>
            <a:r>
              <a:rPr lang="en-US" dirty="0"/>
              <a:t>ID=d924773e-9a16-4d6d-9803-8cb819e99682
Recipe=text_billboard
Type=TextOnly
Variant=0
FamilyID=AccentBoxWalbaum_Zero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A36B1-75F6-458C-B388-8BC01E9857C8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790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899324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839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320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F70765A-4598-4D75-8EBE-B820808F65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Our Team LAYOUT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6486EEBF-4144-4E90-9563-8C8C2E8DD72D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3648466" y="1815437"/>
            <a:ext cx="2167098" cy="2088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2"/>
            </a:solidFill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E6D6EE4D-172B-4315-BE26-F2E3F946BC93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6375130" y="1815437"/>
            <a:ext cx="2167098" cy="2088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528FC1F9-2690-415B-8725-B945AB32D167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9101794" y="1815437"/>
            <a:ext cx="2167098" cy="2088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546689D6-687D-4331-A796-B1DE9D6A7DDA}"/>
              </a:ext>
            </a:extLst>
          </p:cNvPr>
          <p:cNvSpPr>
            <a:spLocks noGrp="1"/>
          </p:cNvSpPr>
          <p:nvPr>
            <p:ph type="pic" idx="42" hasCustomPrompt="1"/>
          </p:nvPr>
        </p:nvSpPr>
        <p:spPr>
          <a:xfrm>
            <a:off x="921804" y="1815437"/>
            <a:ext cx="2167098" cy="2088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8664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445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667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684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574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366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aphic 14">
            <a:extLst>
              <a:ext uri="{FF2B5EF4-FFF2-40B4-BE49-F238E27FC236}">
                <a16:creationId xmlns:a16="http://schemas.microsoft.com/office/drawing/2014/main" id="{34A66B67-E119-4E64-8400-2B90C6D80D16}"/>
              </a:ext>
            </a:extLst>
          </p:cNvPr>
          <p:cNvGrpSpPr/>
          <p:nvPr userDrawn="1"/>
        </p:nvGrpSpPr>
        <p:grpSpPr>
          <a:xfrm>
            <a:off x="4079368" y="2100242"/>
            <a:ext cx="4033264" cy="3172231"/>
            <a:chOff x="2444748" y="555045"/>
            <a:chExt cx="7282048" cy="5727454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3B522729-B13D-4FDF-BF4D-D2408436ECE3}"/>
                </a:ext>
              </a:extLst>
            </p:cNvPr>
            <p:cNvSpPr/>
            <p:nvPr/>
          </p:nvSpPr>
          <p:spPr>
            <a:xfrm>
              <a:off x="4964693" y="5443837"/>
              <a:ext cx="2168250" cy="818208"/>
            </a:xfrm>
            <a:custGeom>
              <a:avLst/>
              <a:gdLst>
                <a:gd name="connsiteX0" fmla="*/ 1941333 w 2168250"/>
                <a:gd name="connsiteY0" fmla="*/ 525699 h 818207"/>
                <a:gd name="connsiteX1" fmla="*/ 1785874 w 2168250"/>
                <a:gd name="connsiteY1" fmla="*/ 30683 h 818207"/>
                <a:gd name="connsiteX2" fmla="*/ 1114943 w 2168250"/>
                <a:gd name="connsiteY2" fmla="*/ 30683 h 818207"/>
                <a:gd name="connsiteX3" fmla="*/ 1065851 w 2168250"/>
                <a:gd name="connsiteY3" fmla="*/ 30683 h 818207"/>
                <a:gd name="connsiteX4" fmla="*/ 390830 w 2168250"/>
                <a:gd name="connsiteY4" fmla="*/ 30683 h 818207"/>
                <a:gd name="connsiteX5" fmla="*/ 235370 w 2168250"/>
                <a:gd name="connsiteY5" fmla="*/ 525699 h 818207"/>
                <a:gd name="connsiteX6" fmla="*/ 259916 w 2168250"/>
                <a:gd name="connsiteY6" fmla="*/ 816162 h 818207"/>
                <a:gd name="connsiteX7" fmla="*/ 1065851 w 2168250"/>
                <a:gd name="connsiteY7" fmla="*/ 816162 h 818207"/>
                <a:gd name="connsiteX8" fmla="*/ 1114943 w 2168250"/>
                <a:gd name="connsiteY8" fmla="*/ 816162 h 818207"/>
                <a:gd name="connsiteX9" fmla="*/ 1920878 w 2168250"/>
                <a:gd name="connsiteY9" fmla="*/ 816162 h 818207"/>
                <a:gd name="connsiteX10" fmla="*/ 1941333 w 2168250"/>
                <a:gd name="connsiteY10" fmla="*/ 525699 h 81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8250" h="818207">
                  <a:moveTo>
                    <a:pt x="1941333" y="525699"/>
                  </a:moveTo>
                  <a:cubicBezTo>
                    <a:pt x="1789965" y="370239"/>
                    <a:pt x="1785874" y="30683"/>
                    <a:pt x="1785874" y="30683"/>
                  </a:cubicBezTo>
                  <a:lnTo>
                    <a:pt x="1114943" y="30683"/>
                  </a:lnTo>
                  <a:lnTo>
                    <a:pt x="1065851" y="30683"/>
                  </a:lnTo>
                  <a:lnTo>
                    <a:pt x="390830" y="30683"/>
                  </a:lnTo>
                  <a:cubicBezTo>
                    <a:pt x="390830" y="30683"/>
                    <a:pt x="386739" y="366148"/>
                    <a:pt x="235370" y="525699"/>
                  </a:cubicBezTo>
                  <a:cubicBezTo>
                    <a:pt x="84002" y="681158"/>
                    <a:pt x="-149188" y="816162"/>
                    <a:pt x="259916" y="816162"/>
                  </a:cubicBezTo>
                  <a:cubicBezTo>
                    <a:pt x="587199" y="816162"/>
                    <a:pt x="939029" y="816162"/>
                    <a:pt x="1065851" y="816162"/>
                  </a:cubicBezTo>
                  <a:cubicBezTo>
                    <a:pt x="1098579" y="816162"/>
                    <a:pt x="1114943" y="816162"/>
                    <a:pt x="1114943" y="816162"/>
                  </a:cubicBezTo>
                  <a:cubicBezTo>
                    <a:pt x="1245857" y="816162"/>
                    <a:pt x="1597686" y="816162"/>
                    <a:pt x="1920878" y="816162"/>
                  </a:cubicBezTo>
                  <a:cubicBezTo>
                    <a:pt x="2329982" y="816162"/>
                    <a:pt x="2092702" y="681158"/>
                    <a:pt x="1941333" y="525699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53000">
                  <a:schemeClr val="bg1">
                    <a:lumMod val="85000"/>
                  </a:schemeClr>
                </a:gs>
                <a:gs pos="83000">
                  <a:schemeClr val="bg1">
                    <a:lumMod val="7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62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2B04B1E2-609D-40B7-A58E-908FC342E197}"/>
                </a:ext>
              </a:extLst>
            </p:cNvPr>
            <p:cNvSpPr/>
            <p:nvPr/>
          </p:nvSpPr>
          <p:spPr>
            <a:xfrm>
              <a:off x="2444748" y="555045"/>
              <a:ext cx="7282048" cy="4950157"/>
            </a:xfrm>
            <a:custGeom>
              <a:avLst/>
              <a:gdLst>
                <a:gd name="connsiteX0" fmla="*/ 7038632 w 7282048"/>
                <a:gd name="connsiteY0" fmla="*/ 30683 h 4950157"/>
                <a:gd name="connsiteX1" fmla="*/ 3704436 w 7282048"/>
                <a:gd name="connsiteY1" fmla="*/ 30683 h 4950157"/>
                <a:gd name="connsiteX2" fmla="*/ 3589886 w 7282048"/>
                <a:gd name="connsiteY2" fmla="*/ 30683 h 4950157"/>
                <a:gd name="connsiteX3" fmla="*/ 259781 w 7282048"/>
                <a:gd name="connsiteY3" fmla="*/ 30683 h 4950157"/>
                <a:gd name="connsiteX4" fmla="*/ 30683 w 7282048"/>
                <a:gd name="connsiteY4" fmla="*/ 259781 h 4950157"/>
                <a:gd name="connsiteX5" fmla="*/ 30683 w 7282048"/>
                <a:gd name="connsiteY5" fmla="*/ 4698558 h 4950157"/>
                <a:gd name="connsiteX6" fmla="*/ 239326 w 7282048"/>
                <a:gd name="connsiteY6" fmla="*/ 4931748 h 4950157"/>
                <a:gd name="connsiteX7" fmla="*/ 7042723 w 7282048"/>
                <a:gd name="connsiteY7" fmla="*/ 4931748 h 4950157"/>
                <a:gd name="connsiteX8" fmla="*/ 7251366 w 7282048"/>
                <a:gd name="connsiteY8" fmla="*/ 4698558 h 4950157"/>
                <a:gd name="connsiteX9" fmla="*/ 7251366 w 7282048"/>
                <a:gd name="connsiteY9" fmla="*/ 259781 h 4950157"/>
                <a:gd name="connsiteX10" fmla="*/ 7038632 w 7282048"/>
                <a:gd name="connsiteY10" fmla="*/ 30683 h 495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82048" h="4950157">
                  <a:moveTo>
                    <a:pt x="7038632" y="30683"/>
                  </a:moveTo>
                  <a:lnTo>
                    <a:pt x="3704436" y="30683"/>
                  </a:lnTo>
                  <a:lnTo>
                    <a:pt x="3589886" y="30683"/>
                  </a:lnTo>
                  <a:lnTo>
                    <a:pt x="259781" y="30683"/>
                  </a:lnTo>
                  <a:cubicBezTo>
                    <a:pt x="141141" y="30683"/>
                    <a:pt x="30683" y="128868"/>
                    <a:pt x="30683" y="259781"/>
                  </a:cubicBezTo>
                  <a:lnTo>
                    <a:pt x="30683" y="4698558"/>
                  </a:lnTo>
                  <a:cubicBezTo>
                    <a:pt x="30683" y="4829472"/>
                    <a:pt x="124777" y="4931748"/>
                    <a:pt x="239326" y="4931748"/>
                  </a:cubicBezTo>
                  <a:lnTo>
                    <a:pt x="7042723" y="4931748"/>
                  </a:lnTo>
                  <a:cubicBezTo>
                    <a:pt x="7157272" y="4931748"/>
                    <a:pt x="7251366" y="4825380"/>
                    <a:pt x="7251366" y="4698558"/>
                  </a:cubicBezTo>
                  <a:lnTo>
                    <a:pt x="7251366" y="259781"/>
                  </a:lnTo>
                  <a:cubicBezTo>
                    <a:pt x="7251366" y="128868"/>
                    <a:pt x="7157272" y="30683"/>
                    <a:pt x="7038632" y="30683"/>
                  </a:cubicBez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C9841E65-BE59-48BE-9989-1EF833DE366E}"/>
                </a:ext>
              </a:extLst>
            </p:cNvPr>
            <p:cNvSpPr/>
            <p:nvPr/>
          </p:nvSpPr>
          <p:spPr>
            <a:xfrm>
              <a:off x="8706599" y="5435655"/>
              <a:ext cx="490925" cy="81821"/>
            </a:xfrm>
            <a:custGeom>
              <a:avLst/>
              <a:gdLst>
                <a:gd name="connsiteX0" fmla="*/ 32212 w 490924"/>
                <a:gd name="connsiteY0" fmla="*/ 30683 h 81820"/>
                <a:gd name="connsiteX1" fmla="*/ 64939 w 490924"/>
                <a:gd name="connsiteY1" fmla="*/ 71593 h 81820"/>
                <a:gd name="connsiteX2" fmla="*/ 461771 w 490924"/>
                <a:gd name="connsiteY2" fmla="*/ 71593 h 81820"/>
                <a:gd name="connsiteX3" fmla="*/ 498590 w 490924"/>
                <a:gd name="connsiteY3" fmla="*/ 30683 h 81820"/>
                <a:gd name="connsiteX4" fmla="*/ 32212 w 490924"/>
                <a:gd name="connsiteY4" fmla="*/ 30683 h 81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924" h="81820">
                  <a:moveTo>
                    <a:pt x="32212" y="30683"/>
                  </a:moveTo>
                  <a:cubicBezTo>
                    <a:pt x="32212" y="30683"/>
                    <a:pt x="19938" y="67502"/>
                    <a:pt x="64939" y="71593"/>
                  </a:cubicBezTo>
                  <a:lnTo>
                    <a:pt x="461771" y="71593"/>
                  </a:lnTo>
                  <a:cubicBezTo>
                    <a:pt x="461771" y="71593"/>
                    <a:pt x="502681" y="75684"/>
                    <a:pt x="498590" y="30683"/>
                  </a:cubicBezTo>
                  <a:lnTo>
                    <a:pt x="32212" y="30683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17A8502-AD3E-4A95-BE4B-44A6ED7C1748}"/>
                </a:ext>
              </a:extLst>
            </p:cNvPr>
            <p:cNvSpPr/>
            <p:nvPr/>
          </p:nvSpPr>
          <p:spPr>
            <a:xfrm>
              <a:off x="2481568" y="595956"/>
              <a:ext cx="7200228" cy="4336501"/>
            </a:xfrm>
            <a:custGeom>
              <a:avLst/>
              <a:gdLst>
                <a:gd name="connsiteX0" fmla="*/ 6973175 w 7200227"/>
                <a:gd name="connsiteY0" fmla="*/ 30683 h 4336501"/>
                <a:gd name="connsiteX1" fmla="*/ 3671707 w 7200227"/>
                <a:gd name="connsiteY1" fmla="*/ 30683 h 4336501"/>
                <a:gd name="connsiteX2" fmla="*/ 3561249 w 7200227"/>
                <a:gd name="connsiteY2" fmla="*/ 30683 h 4336501"/>
                <a:gd name="connsiteX3" fmla="*/ 259781 w 7200227"/>
                <a:gd name="connsiteY3" fmla="*/ 30683 h 4336501"/>
                <a:gd name="connsiteX4" fmla="*/ 30683 w 7200227"/>
                <a:gd name="connsiteY4" fmla="*/ 231144 h 4336501"/>
                <a:gd name="connsiteX5" fmla="*/ 30683 w 7200227"/>
                <a:gd name="connsiteY5" fmla="*/ 4330365 h 4336501"/>
                <a:gd name="connsiteX6" fmla="*/ 7185909 w 7200227"/>
                <a:gd name="connsiteY6" fmla="*/ 4330365 h 4336501"/>
                <a:gd name="connsiteX7" fmla="*/ 7185909 w 7200227"/>
                <a:gd name="connsiteY7" fmla="*/ 231144 h 4336501"/>
                <a:gd name="connsiteX8" fmla="*/ 6973175 w 7200227"/>
                <a:gd name="connsiteY8" fmla="*/ 30683 h 4336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4336501">
                  <a:moveTo>
                    <a:pt x="6973175" y="30683"/>
                  </a:moveTo>
                  <a:lnTo>
                    <a:pt x="3671707" y="30683"/>
                  </a:lnTo>
                  <a:lnTo>
                    <a:pt x="3561249" y="30683"/>
                  </a:lnTo>
                  <a:lnTo>
                    <a:pt x="259781" y="30683"/>
                  </a:lnTo>
                  <a:cubicBezTo>
                    <a:pt x="141141" y="30683"/>
                    <a:pt x="30683" y="112504"/>
                    <a:pt x="30683" y="231144"/>
                  </a:cubicBezTo>
                  <a:lnTo>
                    <a:pt x="30683" y="4330365"/>
                  </a:lnTo>
                  <a:lnTo>
                    <a:pt x="7185909" y="4330365"/>
                  </a:lnTo>
                  <a:lnTo>
                    <a:pt x="7185909" y="231144"/>
                  </a:lnTo>
                  <a:cubicBezTo>
                    <a:pt x="7185909" y="112504"/>
                    <a:pt x="7091815" y="30683"/>
                    <a:pt x="6973175" y="30683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7E37CD3F-E580-4BCD-8E86-45DDC08B1CED}"/>
                </a:ext>
              </a:extLst>
            </p:cNvPr>
            <p:cNvSpPr/>
            <p:nvPr/>
          </p:nvSpPr>
          <p:spPr>
            <a:xfrm>
              <a:off x="4968919" y="6159768"/>
              <a:ext cx="2168250" cy="122731"/>
            </a:xfrm>
            <a:custGeom>
              <a:avLst/>
              <a:gdLst>
                <a:gd name="connsiteX0" fmla="*/ 30683 w 2168250"/>
                <a:gd name="connsiteY0" fmla="*/ 34774 h 122731"/>
                <a:gd name="connsiteX1" fmla="*/ 30683 w 2168250"/>
                <a:gd name="connsiteY1" fmla="*/ 34774 h 122731"/>
                <a:gd name="connsiteX2" fmla="*/ 30683 w 2168250"/>
                <a:gd name="connsiteY2" fmla="*/ 38865 h 122731"/>
                <a:gd name="connsiteX3" fmla="*/ 30683 w 2168250"/>
                <a:gd name="connsiteY3" fmla="*/ 38865 h 122731"/>
                <a:gd name="connsiteX4" fmla="*/ 263872 w 2168250"/>
                <a:gd name="connsiteY4" fmla="*/ 96140 h 122731"/>
                <a:gd name="connsiteX5" fmla="*/ 1069807 w 2168250"/>
                <a:gd name="connsiteY5" fmla="*/ 96140 h 122731"/>
                <a:gd name="connsiteX6" fmla="*/ 1118899 w 2168250"/>
                <a:gd name="connsiteY6" fmla="*/ 96140 h 122731"/>
                <a:gd name="connsiteX7" fmla="*/ 1924834 w 2168250"/>
                <a:gd name="connsiteY7" fmla="*/ 96140 h 122731"/>
                <a:gd name="connsiteX8" fmla="*/ 2153932 w 2168250"/>
                <a:gd name="connsiteY8" fmla="*/ 30683 h 122731"/>
                <a:gd name="connsiteX9" fmla="*/ 2137568 w 2168250"/>
                <a:gd name="connsiteY9" fmla="*/ 30683 h 122731"/>
                <a:gd name="connsiteX10" fmla="*/ 2137568 w 2168250"/>
                <a:gd name="connsiteY10" fmla="*/ 30683 h 122731"/>
                <a:gd name="connsiteX11" fmla="*/ 30683 w 2168250"/>
                <a:gd name="connsiteY11" fmla="*/ 30683 h 12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68250" h="122731">
                  <a:moveTo>
                    <a:pt x="30683" y="34774"/>
                  </a:moveTo>
                  <a:lnTo>
                    <a:pt x="30683" y="34774"/>
                  </a:lnTo>
                  <a:cubicBezTo>
                    <a:pt x="30683" y="38865"/>
                    <a:pt x="30683" y="38865"/>
                    <a:pt x="30683" y="38865"/>
                  </a:cubicBezTo>
                  <a:lnTo>
                    <a:pt x="30683" y="38865"/>
                  </a:lnTo>
                  <a:cubicBezTo>
                    <a:pt x="30683" y="79775"/>
                    <a:pt x="96139" y="96140"/>
                    <a:pt x="263872" y="96140"/>
                  </a:cubicBezTo>
                  <a:cubicBezTo>
                    <a:pt x="591155" y="96140"/>
                    <a:pt x="942984" y="96140"/>
                    <a:pt x="1069807" y="96140"/>
                  </a:cubicBezTo>
                  <a:cubicBezTo>
                    <a:pt x="1102535" y="96140"/>
                    <a:pt x="1118899" y="96140"/>
                    <a:pt x="1118899" y="96140"/>
                  </a:cubicBezTo>
                  <a:cubicBezTo>
                    <a:pt x="1249812" y="96140"/>
                    <a:pt x="1601642" y="96140"/>
                    <a:pt x="1924834" y="96140"/>
                  </a:cubicBezTo>
                  <a:cubicBezTo>
                    <a:pt x="2092566" y="96140"/>
                    <a:pt x="2149841" y="75684"/>
                    <a:pt x="2153932" y="30683"/>
                  </a:cubicBezTo>
                  <a:lnTo>
                    <a:pt x="2137568" y="30683"/>
                  </a:lnTo>
                  <a:lnTo>
                    <a:pt x="2137568" y="30683"/>
                  </a:lnTo>
                  <a:lnTo>
                    <a:pt x="30683" y="30683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7C40E6A-06D8-40FF-A73A-075D011CC34E}"/>
                </a:ext>
              </a:extLst>
            </p:cNvPr>
            <p:cNvSpPr/>
            <p:nvPr/>
          </p:nvSpPr>
          <p:spPr>
            <a:xfrm>
              <a:off x="2481568" y="4903820"/>
              <a:ext cx="7200228" cy="572745"/>
            </a:xfrm>
            <a:custGeom>
              <a:avLst/>
              <a:gdLst>
                <a:gd name="connsiteX0" fmla="*/ 30683 w 7200227"/>
                <a:gd name="connsiteY0" fmla="*/ 362057 h 572745"/>
                <a:gd name="connsiteX1" fmla="*/ 259781 w 7200227"/>
                <a:gd name="connsiteY1" fmla="*/ 562518 h 572745"/>
                <a:gd name="connsiteX2" fmla="*/ 3561249 w 7200227"/>
                <a:gd name="connsiteY2" fmla="*/ 562518 h 572745"/>
                <a:gd name="connsiteX3" fmla="*/ 3671707 w 7200227"/>
                <a:gd name="connsiteY3" fmla="*/ 562518 h 572745"/>
                <a:gd name="connsiteX4" fmla="*/ 6973175 w 7200227"/>
                <a:gd name="connsiteY4" fmla="*/ 562518 h 572745"/>
                <a:gd name="connsiteX5" fmla="*/ 7185909 w 7200227"/>
                <a:gd name="connsiteY5" fmla="*/ 362057 h 572745"/>
                <a:gd name="connsiteX6" fmla="*/ 7185909 w 7200227"/>
                <a:gd name="connsiteY6" fmla="*/ 30683 h 572745"/>
                <a:gd name="connsiteX7" fmla="*/ 30683 w 7200227"/>
                <a:gd name="connsiteY7" fmla="*/ 30683 h 572745"/>
                <a:gd name="connsiteX8" fmla="*/ 30683 w 7200227"/>
                <a:gd name="connsiteY8" fmla="*/ 362057 h 572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572745">
                  <a:moveTo>
                    <a:pt x="30683" y="362057"/>
                  </a:moveTo>
                  <a:cubicBezTo>
                    <a:pt x="30683" y="464333"/>
                    <a:pt x="141141" y="562518"/>
                    <a:pt x="259781" y="562518"/>
                  </a:cubicBezTo>
                  <a:lnTo>
                    <a:pt x="3561249" y="562518"/>
                  </a:lnTo>
                  <a:lnTo>
                    <a:pt x="3671707" y="562518"/>
                  </a:lnTo>
                  <a:lnTo>
                    <a:pt x="6973175" y="562518"/>
                  </a:lnTo>
                  <a:cubicBezTo>
                    <a:pt x="7091815" y="562518"/>
                    <a:pt x="7185909" y="464333"/>
                    <a:pt x="7185909" y="362057"/>
                  </a:cubicBezTo>
                  <a:lnTo>
                    <a:pt x="7185909" y="30683"/>
                  </a:lnTo>
                  <a:lnTo>
                    <a:pt x="30683" y="30683"/>
                  </a:lnTo>
                  <a:lnTo>
                    <a:pt x="30683" y="362057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E84DD12-AFD6-475A-A806-EB66C4268046}"/>
                </a:ext>
              </a:extLst>
            </p:cNvPr>
            <p:cNvSpPr/>
            <p:nvPr/>
          </p:nvSpPr>
          <p:spPr>
            <a:xfrm>
              <a:off x="2747714" y="910966"/>
              <a:ext cx="6676116" cy="3763756"/>
            </a:xfrm>
            <a:custGeom>
              <a:avLst/>
              <a:gdLst>
                <a:gd name="connsiteX0" fmla="*/ 30683 w 6586571"/>
                <a:gd name="connsiteY0" fmla="*/ 30683 h 3763755"/>
                <a:gd name="connsiteX1" fmla="*/ 6564071 w 6586571"/>
                <a:gd name="connsiteY1" fmla="*/ 30683 h 3763755"/>
                <a:gd name="connsiteX2" fmla="*/ 6564071 w 6586571"/>
                <a:gd name="connsiteY2" fmla="*/ 3753528 h 3763755"/>
                <a:gd name="connsiteX3" fmla="*/ 30683 w 6586571"/>
                <a:gd name="connsiteY3" fmla="*/ 3753528 h 376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0BDDD94-1AF8-48AA-B2AB-EC4FB37290BE}"/>
                </a:ext>
              </a:extLst>
            </p:cNvPr>
            <p:cNvSpPr/>
            <p:nvPr/>
          </p:nvSpPr>
          <p:spPr>
            <a:xfrm>
              <a:off x="5654591" y="939518"/>
              <a:ext cx="3769239" cy="3736342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1" name="그림 개체 틀 2">
            <a:extLst>
              <a:ext uri="{FF2B5EF4-FFF2-40B4-BE49-F238E27FC236}">
                <a16:creationId xmlns:a16="http://schemas.microsoft.com/office/drawing/2014/main" id="{C72A073C-7D73-40B7-B673-3107BB80FDD1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247170" y="2261798"/>
            <a:ext cx="3678250" cy="21557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40000"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18F81D80-05EA-4A26-AB7C-4977DBAAC51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964928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830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6040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24463927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136765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54332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511349A8-1806-4767-8D5C-8153CEABBF7A}"/>
              </a:ext>
            </a:extLst>
          </p:cNvPr>
          <p:cNvGrpSpPr/>
          <p:nvPr userDrawn="1"/>
        </p:nvGrpSpPr>
        <p:grpSpPr>
          <a:xfrm>
            <a:off x="1862121" y="1880333"/>
            <a:ext cx="2304289" cy="3980137"/>
            <a:chOff x="1438761" y="2033015"/>
            <a:chExt cx="1980000" cy="3420000"/>
          </a:xfrm>
        </p:grpSpPr>
        <p:sp>
          <p:nvSpPr>
            <p:cNvPr id="3" name="Rounded Rectangle 41">
              <a:extLst>
                <a:ext uri="{FF2B5EF4-FFF2-40B4-BE49-F238E27FC236}">
                  <a16:creationId xmlns:a16="http://schemas.microsoft.com/office/drawing/2014/main" id="{A5B14E61-6B40-4E0A-9A2C-AE1151E32376}"/>
                </a:ext>
              </a:extLst>
            </p:cNvPr>
            <p:cNvSpPr/>
            <p:nvPr userDrawn="1"/>
          </p:nvSpPr>
          <p:spPr>
            <a:xfrm>
              <a:off x="1438761" y="2033015"/>
              <a:ext cx="1980000" cy="342000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" name="Rectangle 42">
              <a:extLst>
                <a:ext uri="{FF2B5EF4-FFF2-40B4-BE49-F238E27FC236}">
                  <a16:creationId xmlns:a16="http://schemas.microsoft.com/office/drawing/2014/main" id="{4BA85697-685A-4B4A-BA3A-AD0B0737BE4F}"/>
                </a:ext>
              </a:extLst>
            </p:cNvPr>
            <p:cNvSpPr/>
            <p:nvPr userDrawn="1"/>
          </p:nvSpPr>
          <p:spPr>
            <a:xfrm>
              <a:off x="2310398" y="2205587"/>
              <a:ext cx="236725" cy="45719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5" name="Group 6">
              <a:extLst>
                <a:ext uri="{FF2B5EF4-FFF2-40B4-BE49-F238E27FC236}">
                  <a16:creationId xmlns:a16="http://schemas.microsoft.com/office/drawing/2014/main" id="{1C49F731-8D94-4B87-9BF4-8E94F229A209}"/>
                </a:ext>
              </a:extLst>
            </p:cNvPr>
            <p:cNvGrpSpPr/>
            <p:nvPr userDrawn="1"/>
          </p:nvGrpSpPr>
          <p:grpSpPr>
            <a:xfrm>
              <a:off x="2332851" y="5138854"/>
              <a:ext cx="191820" cy="211002"/>
              <a:chOff x="2453209" y="5151638"/>
              <a:chExt cx="191820" cy="211002"/>
            </a:xfrm>
          </p:grpSpPr>
          <p:sp>
            <p:nvSpPr>
              <p:cNvPr id="6" name="Oval 44">
                <a:extLst>
                  <a:ext uri="{FF2B5EF4-FFF2-40B4-BE49-F238E27FC236}">
                    <a16:creationId xmlns:a16="http://schemas.microsoft.com/office/drawing/2014/main" id="{227630D1-8A15-4AD6-B00E-9E24B04D4FB1}"/>
                  </a:ext>
                </a:extLst>
              </p:cNvPr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7" name="Rounded Rectangle 45">
                <a:extLst>
                  <a:ext uri="{FF2B5EF4-FFF2-40B4-BE49-F238E27FC236}">
                    <a16:creationId xmlns:a16="http://schemas.microsoft.com/office/drawing/2014/main" id="{CC5C7767-3D38-4548-BA69-330C5EAB49A1}"/>
                  </a:ext>
                </a:extLst>
              </p:cNvPr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84693929-D824-414C-8701-7DC6C464840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001785" y="2211969"/>
            <a:ext cx="2023386" cy="31422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87CFBA2-3D00-48E9-9E9B-3198C9293D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0757578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C5C50C9-5CB7-4938-BEDF-DD2FC7529FA9}"/>
              </a:ext>
            </a:extLst>
          </p:cNvPr>
          <p:cNvSpPr/>
          <p:nvPr userDrawn="1"/>
        </p:nvSpPr>
        <p:spPr>
          <a:xfrm>
            <a:off x="1528762" y="1473243"/>
            <a:ext cx="9144000" cy="3007447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1368" y="1664208"/>
            <a:ext cx="8586216" cy="2176272"/>
          </a:xfrm>
        </p:spPr>
        <p:txBody>
          <a:bodyPr anchor="ctr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7168" y="4142232"/>
            <a:ext cx="7223760" cy="6858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1038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72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1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4" r:id="rId2"/>
    <p:sldLayoutId id="2147483675" r:id="rId3"/>
    <p:sldLayoutId id="2147483676" r:id="rId4"/>
    <p:sldLayoutId id="2147483678" r:id="rId5"/>
    <p:sldLayoutId id="2147483680" r:id="rId6"/>
    <p:sldLayoutId id="2147483682" r:id="rId7"/>
    <p:sldLayoutId id="2147483684" r:id="rId8"/>
    <p:sldLayoutId id="2147483686" r:id="rId9"/>
    <p:sldLayoutId id="2147483689" r:id="rId10"/>
    <p:sldLayoutId id="2147483687" r:id="rId11"/>
    <p:sldLayoutId id="2147483688" r:id="rId12"/>
    <p:sldLayoutId id="2147483671" r:id="rId13"/>
    <p:sldLayoutId id="2147483672" r:id="rId14"/>
    <p:sldLayoutId id="2147483697" r:id="rId15"/>
    <p:sldLayoutId id="2147483698" r:id="rId16"/>
    <p:sldLayoutId id="2147483702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40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>
            <a:extLst>
              <a:ext uri="{FF2B5EF4-FFF2-40B4-BE49-F238E27FC236}">
                <a16:creationId xmlns:a16="http://schemas.microsoft.com/office/drawing/2014/main" id="{880C91C8-9B98-7C2A-6651-587BD6B2E994}"/>
              </a:ext>
            </a:extLst>
          </p:cNvPr>
          <p:cNvSpPr txBox="1">
            <a:spLocks/>
          </p:cNvSpPr>
          <p:nvPr/>
        </p:nvSpPr>
        <p:spPr bwMode="auto">
          <a:xfrm>
            <a:off x="8866208" y="160337"/>
            <a:ext cx="2951443" cy="1504950"/>
          </a:xfrm>
          <a:prstGeom prst="rect">
            <a:avLst/>
          </a:prstGeom>
          <a:noFill/>
          <a:ln>
            <a:noFill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r" rtl="1">
              <a:spcBef>
                <a:spcPts val="0"/>
              </a:spcBef>
              <a:spcAft>
                <a:spcPts val="0"/>
              </a:spcAft>
            </a:pPr>
            <a:r>
              <a:rPr lang="ar-YE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المملكة العربية السعودية</a:t>
            </a:r>
          </a:p>
          <a:p>
            <a:pPr marL="0" marR="0" algn="r" rtl="1">
              <a:spcBef>
                <a:spcPts val="0"/>
              </a:spcBef>
              <a:spcAft>
                <a:spcPts val="0"/>
              </a:spcAft>
            </a:pPr>
            <a:r>
              <a:rPr lang="ar-YE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وزارة التعليم</a:t>
            </a:r>
          </a:p>
          <a:p>
            <a:pPr marL="0" marR="0" algn="r" rtl="1">
              <a:spcBef>
                <a:spcPts val="0"/>
              </a:spcBef>
              <a:spcAft>
                <a:spcPts val="0"/>
              </a:spcAft>
            </a:pPr>
            <a:r>
              <a:rPr lang="ar-YE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جامعة الأمير سطام بن عبد العزيز</a:t>
            </a:r>
          </a:p>
          <a:p>
            <a:pPr marL="0" marR="0" algn="r" rtl="1">
              <a:spcBef>
                <a:spcPts val="0"/>
              </a:spcBef>
              <a:spcAft>
                <a:spcPts val="0"/>
              </a:spcAft>
            </a:pPr>
            <a:r>
              <a:rPr lang="ar-YE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كلية العلوم والدراسات الإنسانية – الأفلاج</a:t>
            </a:r>
          </a:p>
          <a:p>
            <a:pPr marL="0" marR="0" algn="r" rtl="1">
              <a:spcBef>
                <a:spcPts val="0"/>
              </a:spcBef>
              <a:spcAft>
                <a:spcPts val="0"/>
              </a:spcAft>
            </a:pPr>
            <a:r>
              <a:rPr lang="ar-YE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قسم علوم حاسب</a:t>
            </a: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AABC7099-2AEB-3F92-46E1-F249FD056220}"/>
              </a:ext>
            </a:extLst>
          </p:cNvPr>
          <p:cNvSpPr txBox="1">
            <a:spLocks/>
          </p:cNvSpPr>
          <p:nvPr/>
        </p:nvSpPr>
        <p:spPr bwMode="auto">
          <a:xfrm>
            <a:off x="374348" y="160337"/>
            <a:ext cx="3653641" cy="2011363"/>
          </a:xfrm>
          <a:prstGeom prst="rect">
            <a:avLst/>
          </a:prstGeom>
          <a:noFill/>
          <a:ln>
            <a:noFill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Kingdom of Saudi Arabia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Ministry of Education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Prince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Sattam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Bin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Abdulaziz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University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College of Science and Humanities-Al-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Aflaj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Department of Computer Science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576C8C-5697-7982-9737-73EE2BEF66CB}"/>
              </a:ext>
            </a:extLst>
          </p:cNvPr>
          <p:cNvSpPr txBox="1"/>
          <p:nvPr/>
        </p:nvSpPr>
        <p:spPr>
          <a:xfrm>
            <a:off x="4329214" y="3457368"/>
            <a:ext cx="3243714" cy="456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Done By:     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2F1A88-BE51-D998-BC3A-7A2EC733DB35}"/>
              </a:ext>
            </a:extLst>
          </p:cNvPr>
          <p:cNvSpPr txBox="1"/>
          <p:nvPr/>
        </p:nvSpPr>
        <p:spPr>
          <a:xfrm>
            <a:off x="1802524" y="2387278"/>
            <a:ext cx="85869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Predicting the risk of heart disease</a:t>
            </a:r>
            <a:endParaRPr lang="en-US" sz="4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D74A61-B397-B744-6C3F-554DC05C8DEB}"/>
              </a:ext>
            </a:extLst>
          </p:cNvPr>
          <p:cNvSpPr txBox="1"/>
          <p:nvPr/>
        </p:nvSpPr>
        <p:spPr>
          <a:xfrm>
            <a:off x="2666542" y="5692975"/>
            <a:ext cx="67018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Submitted in Partial Fulfillment for the Requirements of the Bachelor Degree in Computer Science</a:t>
            </a:r>
            <a:endParaRPr 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9F6625-64AC-EBB8-A9B8-75702B92B8D3}"/>
              </a:ext>
            </a:extLst>
          </p:cNvPr>
          <p:cNvSpPr txBox="1"/>
          <p:nvPr/>
        </p:nvSpPr>
        <p:spPr>
          <a:xfrm>
            <a:off x="4452428" y="6365886"/>
            <a:ext cx="32871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First Semester of 1446  H -2024G</a:t>
            </a:r>
            <a:endParaRPr lang="en-US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21E98E-1491-C238-C94F-03666960B1FF}"/>
              </a:ext>
            </a:extLst>
          </p:cNvPr>
          <p:cNvSpPr txBox="1"/>
          <p:nvPr/>
        </p:nvSpPr>
        <p:spPr>
          <a:xfrm>
            <a:off x="4329214" y="4716455"/>
            <a:ext cx="3243714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Supervised By:</a:t>
            </a:r>
          </a:p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nn-NO" sz="1800" dirty="0">
                <a:effectLst/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Dr. Abed Saif Ahmed Alghauly</a:t>
            </a:r>
            <a:endParaRPr lang="en-US" sz="1800" dirty="0">
              <a:effectLst/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101F8FE-9F72-FFAA-B1F9-29AEEC74CC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091074"/>
              </p:ext>
            </p:extLst>
          </p:nvPr>
        </p:nvGraphicFramePr>
        <p:xfrm>
          <a:off x="1962262" y="3893620"/>
          <a:ext cx="826747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8473">
                  <a:extLst>
                    <a:ext uri="{9D8B030D-6E8A-4147-A177-3AD203B41FA5}">
                      <a16:colId xmlns:a16="http://schemas.microsoft.com/office/drawing/2014/main" val="1569204212"/>
                    </a:ext>
                  </a:extLst>
                </a:gridCol>
                <a:gridCol w="3959004">
                  <a:extLst>
                    <a:ext uri="{9D8B030D-6E8A-4147-A177-3AD203B41FA5}">
                      <a16:colId xmlns:a16="http://schemas.microsoft.com/office/drawing/2014/main" val="1163797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Khaled Abdullah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AlOtaibi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– 442850298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Abdulelah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Rashed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Alojiry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– 443850168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448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Yazeed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abdullah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alanazi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– 443051051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Sultan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waslallah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alMutairi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– 442850137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4534177"/>
                  </a:ext>
                </a:extLst>
              </a:tr>
            </a:tbl>
          </a:graphicData>
        </a:graphic>
      </p:graphicFrame>
      <p:pic>
        <p:nvPicPr>
          <p:cNvPr id="12" name="Graphic 1">
            <a:extLst>
              <a:ext uri="{FF2B5EF4-FFF2-40B4-BE49-F238E27FC236}">
                <a16:creationId xmlns:a16="http://schemas.microsoft.com/office/drawing/2014/main" id="{99B43533-132D-46E0-8021-F6B38BBE0BB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7967" y="99694"/>
            <a:ext cx="2696066" cy="1169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077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5590148-FD0D-464E-A05A-A3AF180EFCA5}"/>
              </a:ext>
            </a:extLst>
          </p:cNvPr>
          <p:cNvSpPr txBox="1"/>
          <p:nvPr/>
        </p:nvSpPr>
        <p:spPr>
          <a:xfrm>
            <a:off x="6998425" y="5634717"/>
            <a:ext cx="4882641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dist"/>
            <a:r>
              <a:rPr lang="en-US" altLang="ko-KR" sz="5400" b="1" dirty="0">
                <a:solidFill>
                  <a:schemeClr val="accent1"/>
                </a:solidFill>
                <a:latin typeface="+mj-lt"/>
                <a:cs typeface="Arial" pitchFamily="34" charset="0"/>
              </a:rPr>
              <a:t>AGENDA</a:t>
            </a:r>
            <a:endParaRPr lang="ko-KR" altLang="en-US" sz="5400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234B72B-59CE-4C56-AC25-F412154EF099}"/>
              </a:ext>
            </a:extLst>
          </p:cNvPr>
          <p:cNvGrpSpPr/>
          <p:nvPr/>
        </p:nvGrpSpPr>
        <p:grpSpPr>
          <a:xfrm>
            <a:off x="1303132" y="988904"/>
            <a:ext cx="3360255" cy="830997"/>
            <a:chOff x="1303132" y="988904"/>
            <a:chExt cx="3360255" cy="83099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06AF0FE-16F4-41C6-832C-E0A1946FC8BA}"/>
                </a:ext>
              </a:extLst>
            </p:cNvPr>
            <p:cNvSpPr txBox="1"/>
            <p:nvPr/>
          </p:nvSpPr>
          <p:spPr>
            <a:xfrm>
              <a:off x="2322035" y="1223283"/>
              <a:ext cx="2341352" cy="5078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2700" b="1" dirty="0">
                  <a:solidFill>
                    <a:schemeClr val="accent2"/>
                  </a:solidFill>
                  <a:cs typeface="Arial" pitchFamily="34" charset="0"/>
                </a:rPr>
                <a:t>Introduction</a:t>
              </a:r>
              <a:endParaRPr lang="ko-KR" altLang="en-US" sz="2700" b="1" dirty="0">
                <a:solidFill>
                  <a:schemeClr val="accent2"/>
                </a:solidFill>
                <a:cs typeface="Arial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DFB2C3E-73C2-49F7-B502-F75C517B6E28}"/>
                </a:ext>
              </a:extLst>
            </p:cNvPr>
            <p:cNvSpPr txBox="1"/>
            <p:nvPr/>
          </p:nvSpPr>
          <p:spPr>
            <a:xfrm>
              <a:off x="1303132" y="988904"/>
              <a:ext cx="958096" cy="83099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4800" b="1" dirty="0">
                  <a:solidFill>
                    <a:schemeClr val="accent1"/>
                  </a:solidFill>
                  <a:cs typeface="Arial" pitchFamily="34" charset="0"/>
                </a:rPr>
                <a:t>01</a:t>
              </a:r>
              <a:endParaRPr lang="ko-KR" altLang="en-US" sz="48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7BC4AAD-D7A8-4724-90BB-46E275BD52D2}"/>
              </a:ext>
            </a:extLst>
          </p:cNvPr>
          <p:cNvGrpSpPr/>
          <p:nvPr/>
        </p:nvGrpSpPr>
        <p:grpSpPr>
          <a:xfrm>
            <a:off x="1303132" y="2570838"/>
            <a:ext cx="3360255" cy="987128"/>
            <a:chOff x="1303132" y="2570838"/>
            <a:chExt cx="3360255" cy="98712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F06C1F4-9C57-4230-892F-D918CC87F42C}"/>
                </a:ext>
              </a:extLst>
            </p:cNvPr>
            <p:cNvSpPr txBox="1"/>
            <p:nvPr/>
          </p:nvSpPr>
          <p:spPr>
            <a:xfrm>
              <a:off x="2322035" y="2634636"/>
              <a:ext cx="2341352" cy="92333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2700" b="1" dirty="0">
                  <a:solidFill>
                    <a:schemeClr val="accent2"/>
                  </a:solidFill>
                  <a:cs typeface="Arial" pitchFamily="34" charset="0"/>
                </a:rPr>
                <a:t>Project Objectives</a:t>
              </a:r>
              <a:endParaRPr lang="ko-KR" altLang="en-US" sz="2700" b="1" dirty="0">
                <a:solidFill>
                  <a:schemeClr val="accent2"/>
                </a:solidFill>
                <a:cs typeface="Arial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79D807B-CA0B-4496-A0F0-A7076B13471F}"/>
                </a:ext>
              </a:extLst>
            </p:cNvPr>
            <p:cNvSpPr txBox="1"/>
            <p:nvPr/>
          </p:nvSpPr>
          <p:spPr>
            <a:xfrm>
              <a:off x="1303132" y="2570838"/>
              <a:ext cx="958096" cy="83099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4800" b="1" dirty="0">
                  <a:solidFill>
                    <a:schemeClr val="accent1"/>
                  </a:solidFill>
                  <a:cs typeface="Arial" pitchFamily="34" charset="0"/>
                </a:rPr>
                <a:t>02</a:t>
              </a:r>
              <a:endParaRPr lang="ko-KR" altLang="en-US" sz="48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FDC831F-D663-4B86-8B13-0B842582E3F4}"/>
              </a:ext>
            </a:extLst>
          </p:cNvPr>
          <p:cNvGrpSpPr/>
          <p:nvPr/>
        </p:nvGrpSpPr>
        <p:grpSpPr>
          <a:xfrm>
            <a:off x="6092274" y="988904"/>
            <a:ext cx="3360255" cy="987128"/>
            <a:chOff x="4880419" y="988904"/>
            <a:chExt cx="3360255" cy="987128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FCD5200-F18F-4FF9-B023-67E4725803B6}"/>
                </a:ext>
              </a:extLst>
            </p:cNvPr>
            <p:cNvSpPr txBox="1"/>
            <p:nvPr/>
          </p:nvSpPr>
          <p:spPr>
            <a:xfrm>
              <a:off x="5899322" y="1052702"/>
              <a:ext cx="2341352" cy="92333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2700" b="1" dirty="0">
                  <a:solidFill>
                    <a:schemeClr val="accent2"/>
                  </a:solidFill>
                  <a:cs typeface="Arial" pitchFamily="34" charset="0"/>
                </a:rPr>
                <a:t>Literature Review</a:t>
              </a:r>
              <a:endParaRPr lang="ko-KR" altLang="en-US" sz="2700" b="1" dirty="0">
                <a:solidFill>
                  <a:schemeClr val="accent2"/>
                </a:solidFill>
                <a:cs typeface="Arial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00F09CE-CA73-4B08-8E0C-269A9A0EFA03}"/>
                </a:ext>
              </a:extLst>
            </p:cNvPr>
            <p:cNvSpPr txBox="1"/>
            <p:nvPr/>
          </p:nvSpPr>
          <p:spPr>
            <a:xfrm>
              <a:off x="4880419" y="988904"/>
              <a:ext cx="958096" cy="83099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4800" b="1" dirty="0">
                  <a:solidFill>
                    <a:schemeClr val="accent1"/>
                  </a:solidFill>
                  <a:cs typeface="Arial" pitchFamily="34" charset="0"/>
                </a:rPr>
                <a:t>04</a:t>
              </a:r>
              <a:endParaRPr lang="ko-KR" altLang="en-US" sz="48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B18F400-BD70-40BD-ACF9-30BA2C7C2A1A}"/>
              </a:ext>
            </a:extLst>
          </p:cNvPr>
          <p:cNvGrpSpPr/>
          <p:nvPr/>
        </p:nvGrpSpPr>
        <p:grpSpPr>
          <a:xfrm>
            <a:off x="1303132" y="4144268"/>
            <a:ext cx="3360255" cy="987128"/>
            <a:chOff x="1303132" y="4144268"/>
            <a:chExt cx="3360255" cy="987128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8AD6046-40B3-C75F-F459-090C6EAE6058}"/>
                </a:ext>
              </a:extLst>
            </p:cNvPr>
            <p:cNvSpPr txBox="1"/>
            <p:nvPr/>
          </p:nvSpPr>
          <p:spPr>
            <a:xfrm>
              <a:off x="2322035" y="4208066"/>
              <a:ext cx="2341352" cy="92333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2700" b="1" dirty="0">
                  <a:solidFill>
                    <a:schemeClr val="accent2"/>
                  </a:solidFill>
                  <a:cs typeface="Arial" pitchFamily="34" charset="0"/>
                </a:rPr>
                <a:t>Problem Statement</a:t>
              </a:r>
              <a:endParaRPr lang="ko-KR" altLang="en-US" sz="2700" b="1" dirty="0">
                <a:solidFill>
                  <a:schemeClr val="accent2"/>
                </a:solidFill>
                <a:cs typeface="Arial" pitchFamily="34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6E728EC-6798-314F-56F8-A578D8FD5FF0}"/>
                </a:ext>
              </a:extLst>
            </p:cNvPr>
            <p:cNvSpPr txBox="1"/>
            <p:nvPr/>
          </p:nvSpPr>
          <p:spPr>
            <a:xfrm>
              <a:off x="1303132" y="4144268"/>
              <a:ext cx="958096" cy="83099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4800" b="1" dirty="0">
                  <a:solidFill>
                    <a:schemeClr val="accent1"/>
                  </a:solidFill>
                  <a:cs typeface="Arial" pitchFamily="34" charset="0"/>
                </a:rPr>
                <a:t>03</a:t>
              </a:r>
              <a:endParaRPr lang="ko-KR" altLang="en-US" sz="48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8F21F68-44D8-441C-B6F0-D580029E03E8}"/>
              </a:ext>
            </a:extLst>
          </p:cNvPr>
          <p:cNvGrpSpPr/>
          <p:nvPr/>
        </p:nvGrpSpPr>
        <p:grpSpPr>
          <a:xfrm>
            <a:off x="6092274" y="2570838"/>
            <a:ext cx="4671204" cy="1402626"/>
            <a:chOff x="4880419" y="2570838"/>
            <a:chExt cx="4671204" cy="1402626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3381258-6269-4DE3-9E88-CDA7A70297F4}"/>
                </a:ext>
              </a:extLst>
            </p:cNvPr>
            <p:cNvSpPr txBox="1"/>
            <p:nvPr/>
          </p:nvSpPr>
          <p:spPr>
            <a:xfrm>
              <a:off x="4880419" y="2570838"/>
              <a:ext cx="958096" cy="83099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4800" b="1" dirty="0">
                  <a:solidFill>
                    <a:schemeClr val="accent1"/>
                  </a:solidFill>
                  <a:cs typeface="Arial" pitchFamily="34" charset="0"/>
                </a:rPr>
                <a:t>05</a:t>
              </a:r>
              <a:endParaRPr lang="ko-KR" altLang="en-US" sz="48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675FCDD-2742-FE8F-800C-61D50DCFFCEF}"/>
                </a:ext>
              </a:extLst>
            </p:cNvPr>
            <p:cNvSpPr txBox="1"/>
            <p:nvPr/>
          </p:nvSpPr>
          <p:spPr>
            <a:xfrm>
              <a:off x="5867800" y="2634636"/>
              <a:ext cx="3683823" cy="1338828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2700" b="1" dirty="0">
                  <a:solidFill>
                    <a:schemeClr val="accent2"/>
                  </a:solidFill>
                  <a:cs typeface="Arial" pitchFamily="34" charset="0"/>
                </a:rPr>
                <a:t>Classification Algorithms in Machine Learning</a:t>
              </a:r>
              <a:endParaRPr lang="ko-KR" altLang="en-US" sz="2700" b="1" dirty="0">
                <a:solidFill>
                  <a:schemeClr val="accent2"/>
                </a:solidFill>
                <a:cs typeface="Arial" pitchFamily="34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9A6A0C9-6793-4250-8A34-5FE1D2E2D507}"/>
              </a:ext>
            </a:extLst>
          </p:cNvPr>
          <p:cNvGrpSpPr/>
          <p:nvPr/>
        </p:nvGrpSpPr>
        <p:grpSpPr>
          <a:xfrm>
            <a:off x="6123795" y="4144268"/>
            <a:ext cx="3816936" cy="987128"/>
            <a:chOff x="4911940" y="4144268"/>
            <a:chExt cx="3816936" cy="98712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082CFC5-8A10-E571-DEA7-2DF4E983230B}"/>
                </a:ext>
              </a:extLst>
            </p:cNvPr>
            <p:cNvSpPr txBox="1"/>
            <p:nvPr/>
          </p:nvSpPr>
          <p:spPr>
            <a:xfrm>
              <a:off x="4911940" y="4144268"/>
              <a:ext cx="958096" cy="83099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4800" b="1" dirty="0">
                  <a:solidFill>
                    <a:schemeClr val="accent1"/>
                  </a:solidFill>
                  <a:cs typeface="Arial" pitchFamily="34" charset="0"/>
                </a:rPr>
                <a:t>06</a:t>
              </a:r>
              <a:endParaRPr lang="ko-KR" altLang="en-US" sz="48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102EDC0-C86C-8D57-1E62-5512F399DA39}"/>
                </a:ext>
              </a:extLst>
            </p:cNvPr>
            <p:cNvSpPr txBox="1"/>
            <p:nvPr/>
          </p:nvSpPr>
          <p:spPr>
            <a:xfrm>
              <a:off x="5899322" y="4208066"/>
              <a:ext cx="2829554" cy="92333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2700" b="1" dirty="0">
                  <a:solidFill>
                    <a:schemeClr val="accent2"/>
                  </a:solidFill>
                  <a:cs typeface="Arial" pitchFamily="34" charset="0"/>
                </a:rPr>
                <a:t>Performance Metrics</a:t>
              </a:r>
              <a:endParaRPr lang="ko-KR" altLang="en-US" sz="2700" b="1" dirty="0">
                <a:solidFill>
                  <a:schemeClr val="accent2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8822504"/>
      </p:ext>
    </p:extLst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B250192-A69B-C177-BB4C-EC785527DA1F}"/>
              </a:ext>
            </a:extLst>
          </p:cNvPr>
          <p:cNvSpPr txBox="1"/>
          <p:nvPr/>
        </p:nvSpPr>
        <p:spPr>
          <a:xfrm>
            <a:off x="1171956" y="1467114"/>
            <a:ext cx="9848088" cy="491032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bg1"/>
                </a:solidFill>
              </a:rPr>
              <a:t>Heart disease is a leading global cause of death, making early detection critical for better patient outcomes. </a:t>
            </a:r>
          </a:p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bg1"/>
                </a:solidFill>
              </a:rPr>
              <a:t>This project aims to create a machine learning model to predict heart disease risk using patient data, including demographics, medical history, and clinical metrics.</a:t>
            </a:r>
          </a:p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bg1"/>
                </a:solidFill>
              </a:rPr>
              <a:t> By leveraging these attributes, the model will identify high-risk individuals, facilitating early interventions and improving cardiovascular health.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A70F514-A832-4458-BDDD-9B7797AE61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Abstract</a:t>
            </a:r>
          </a:p>
        </p:txBody>
      </p:sp>
    </p:spTree>
    <p:extLst>
      <p:ext uri="{BB962C8B-B14F-4D97-AF65-F5344CB8AC3E}">
        <p14:creationId xmlns:p14="http://schemas.microsoft.com/office/powerpoint/2010/main" val="19796882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comb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B250192-A69B-C177-BB4C-EC785527DA1F}"/>
              </a:ext>
            </a:extLst>
          </p:cNvPr>
          <p:cNvSpPr txBox="1"/>
          <p:nvPr/>
        </p:nvSpPr>
        <p:spPr>
          <a:xfrm>
            <a:off x="1171956" y="1467114"/>
            <a:ext cx="9848088" cy="491032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/>
                </a:solidFill>
              </a:rPr>
              <a:t>Heart disease is a significant global health issue, with increasing prevalence in Saudi Arabia due to lifestyle changes, poor diets, physical inactivity, and genetic factors.</a:t>
            </a:r>
          </a:p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/>
                </a:solidFill>
              </a:rPr>
              <a:t>Early identification of individuals at risk is essential to improve patient outcomes and reduce healthcare burdens.</a:t>
            </a:r>
          </a:p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/>
                </a:solidFill>
              </a:rPr>
              <a:t>Machine learning offers the ability to analyze complex datasets and predict heart disease risks using patient data such as age, cholesterol levels, and smoking habits.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A70F514-A832-4458-BDDD-9B7797AE61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Introduction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4C4E66-3344-4024-910E-5D08BC1338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1327" y="4146642"/>
            <a:ext cx="2488488" cy="2488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5983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comb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B250192-A69B-C177-BB4C-EC785527DA1F}"/>
              </a:ext>
            </a:extLst>
          </p:cNvPr>
          <p:cNvSpPr txBox="1"/>
          <p:nvPr/>
        </p:nvSpPr>
        <p:spPr>
          <a:xfrm>
            <a:off x="1171461" y="1467114"/>
            <a:ext cx="9849079" cy="49116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/>
                </a:solidFill>
              </a:rPr>
              <a:t>This project aims to develop a machine learning model for heart disease prediction using publicly available datasets, enhancing early diagnosis and healthcare decision-making.</a:t>
            </a:r>
          </a:p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/>
                </a:solidFill>
              </a:rPr>
              <a:t>The project emphasizes tailoring solutions to Saudi Arabia's specific needs by integrating local and global datasets.</a:t>
            </a:r>
          </a:p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/>
                </a:solidFill>
              </a:rPr>
              <a:t>Challenges include ensuring data quality, addressing ethical issues, and achieving model transparency for better acceptance and effectiveness.</a:t>
            </a:r>
          </a:p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/>
                </a:solidFill>
              </a:rPr>
              <a:t>The project seeks to create a reliable predictive tool and advance the application of data science in addressing critical health issues.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A70F514-A832-4458-BDDD-9B7797AE61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Introduction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A9E05F-37C3-4D8E-A028-CC5F8CA9ED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7191" y="4902506"/>
            <a:ext cx="1732624" cy="1732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8184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comb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직사각형 5">
            <a:extLst>
              <a:ext uri="{FF2B5EF4-FFF2-40B4-BE49-F238E27FC236}">
                <a16:creationId xmlns:a16="http://schemas.microsoft.com/office/drawing/2014/main" id="{5C68ABD3-3BFF-489E-9471-DC453517C3E6}"/>
              </a:ext>
            </a:extLst>
          </p:cNvPr>
          <p:cNvSpPr/>
          <p:nvPr/>
        </p:nvSpPr>
        <p:spPr>
          <a:xfrm>
            <a:off x="643467" y="366616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ko-KR" sz="5400" dirty="0">
                <a:solidFill>
                  <a:schemeClr val="accent1"/>
                </a:solidFill>
                <a:cs typeface="Arial" pitchFamily="34" charset="0"/>
              </a:rPr>
              <a:t>Project’s</a:t>
            </a:r>
            <a:r>
              <a:rPr lang="en-US" altLang="ko-KR" sz="5400" dirty="0">
                <a:solidFill>
                  <a:schemeClr val="accent2"/>
                </a:solidFill>
                <a:cs typeface="Arial" pitchFamily="34" charset="0"/>
              </a:rPr>
              <a:t> </a:t>
            </a:r>
            <a:r>
              <a:rPr lang="en-US" altLang="ko-KR" sz="5400" dirty="0">
                <a:cs typeface="Arial" pitchFamily="34" charset="0"/>
              </a:rPr>
              <a:t>Objective</a:t>
            </a:r>
            <a:endParaRPr lang="ko-KR" altLang="en-US" sz="5400" dirty="0">
              <a:cs typeface="Arial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DD2A847-CA9A-EA9B-17CE-7DC5594C9D7D}"/>
              </a:ext>
            </a:extLst>
          </p:cNvPr>
          <p:cNvGrpSpPr/>
          <p:nvPr/>
        </p:nvGrpSpPr>
        <p:grpSpPr>
          <a:xfrm>
            <a:off x="853738" y="2170598"/>
            <a:ext cx="3059751" cy="3877662"/>
            <a:chOff x="853738" y="2170598"/>
            <a:chExt cx="3059751" cy="3877662"/>
          </a:xfrm>
        </p:grpSpPr>
        <p:grpSp>
          <p:nvGrpSpPr>
            <p:cNvPr id="11" name="그룹 3">
              <a:extLst>
                <a:ext uri="{FF2B5EF4-FFF2-40B4-BE49-F238E27FC236}">
                  <a16:creationId xmlns:a16="http://schemas.microsoft.com/office/drawing/2014/main" id="{EE081EFA-072C-372E-9D5E-AE501449D33F}"/>
                </a:ext>
              </a:extLst>
            </p:cNvPr>
            <p:cNvGrpSpPr/>
            <p:nvPr/>
          </p:nvGrpSpPr>
          <p:grpSpPr>
            <a:xfrm>
              <a:off x="853738" y="2170598"/>
              <a:ext cx="3059751" cy="3877662"/>
              <a:chOff x="640135" y="1457126"/>
              <a:chExt cx="2294813" cy="2908247"/>
            </a:xfrm>
          </p:grpSpPr>
          <p:sp>
            <p:nvSpPr>
              <p:cNvPr id="12" name="Rounded Rectangle 7">
                <a:extLst>
                  <a:ext uri="{FF2B5EF4-FFF2-40B4-BE49-F238E27FC236}">
                    <a16:creationId xmlns:a16="http://schemas.microsoft.com/office/drawing/2014/main" id="{C84BBC58-C79F-871F-A4AE-428201D2B9CE}"/>
                  </a:ext>
                </a:extLst>
              </p:cNvPr>
              <p:cNvSpPr/>
              <p:nvPr/>
            </p:nvSpPr>
            <p:spPr>
              <a:xfrm>
                <a:off x="640135" y="1457126"/>
                <a:ext cx="2069491" cy="1117829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 dirty="0"/>
              </a:p>
            </p:txBody>
          </p:sp>
          <p:sp>
            <p:nvSpPr>
              <p:cNvPr id="14" name="Rounded Rectangle 8">
                <a:extLst>
                  <a:ext uri="{FF2B5EF4-FFF2-40B4-BE49-F238E27FC236}">
                    <a16:creationId xmlns:a16="http://schemas.microsoft.com/office/drawing/2014/main" id="{3A162F0C-3DBB-D1A8-9869-E15B6DB021BE}"/>
                  </a:ext>
                </a:extLst>
              </p:cNvPr>
              <p:cNvSpPr/>
              <p:nvPr/>
            </p:nvSpPr>
            <p:spPr>
              <a:xfrm>
                <a:off x="865457" y="2270618"/>
                <a:ext cx="2069491" cy="2094755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 dirty="0"/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7B47EC3-4D87-163B-B8C0-7CEBF1E47A68}"/>
                </a:ext>
              </a:extLst>
            </p:cNvPr>
            <p:cNvSpPr txBox="1"/>
            <p:nvPr/>
          </p:nvSpPr>
          <p:spPr>
            <a:xfrm>
              <a:off x="1024980" y="2343102"/>
              <a:ext cx="233400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>
                  <a:solidFill>
                    <a:schemeClr val="bg1"/>
                  </a:solidFill>
                  <a:cs typeface="Arial" pitchFamily="34" charset="0"/>
                </a:rPr>
                <a:t>Data Collection and Preprocessing</a:t>
              </a:r>
              <a:endParaRPr lang="ko-KR" altLang="en-US" sz="16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8" name="Text Placeholder 12">
              <a:extLst>
                <a:ext uri="{FF2B5EF4-FFF2-40B4-BE49-F238E27FC236}">
                  <a16:creationId xmlns:a16="http://schemas.microsoft.com/office/drawing/2014/main" id="{196DAE5A-EE4E-7BCE-9AFB-74ED35C1DE21}"/>
                </a:ext>
              </a:extLst>
            </p:cNvPr>
            <p:cNvSpPr txBox="1">
              <a:spLocks/>
            </p:cNvSpPr>
            <p:nvPr/>
          </p:nvSpPr>
          <p:spPr>
            <a:xfrm>
              <a:off x="1410865" y="3456007"/>
              <a:ext cx="2245925" cy="1219771"/>
            </a:xfrm>
            <a:prstGeom prst="rect">
              <a:avLst/>
            </a:prstGeom>
          </p:spPr>
          <p:txBody>
            <a:bodyPr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Gather a dataset with features related to heart disease (e.g., demographics, clinical and lifestyle factors) and preprocess the data by cleaning and normalizing it for accurate analysis.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52C00A7-626B-5145-4225-65E30FCF8278}"/>
              </a:ext>
            </a:extLst>
          </p:cNvPr>
          <p:cNvGrpSpPr/>
          <p:nvPr/>
        </p:nvGrpSpPr>
        <p:grpSpPr>
          <a:xfrm>
            <a:off x="4566125" y="2170598"/>
            <a:ext cx="3059751" cy="3877661"/>
            <a:chOff x="4566125" y="2170598"/>
            <a:chExt cx="3059751" cy="3877661"/>
          </a:xfrm>
        </p:grpSpPr>
        <p:grpSp>
          <p:nvGrpSpPr>
            <p:cNvPr id="20" name="그룹 2">
              <a:extLst>
                <a:ext uri="{FF2B5EF4-FFF2-40B4-BE49-F238E27FC236}">
                  <a16:creationId xmlns:a16="http://schemas.microsoft.com/office/drawing/2014/main" id="{23E54B16-AB43-251D-B2FD-2765D0D760B4}"/>
                </a:ext>
              </a:extLst>
            </p:cNvPr>
            <p:cNvGrpSpPr/>
            <p:nvPr/>
          </p:nvGrpSpPr>
          <p:grpSpPr>
            <a:xfrm>
              <a:off x="4566125" y="2170598"/>
              <a:ext cx="3059751" cy="3877661"/>
              <a:chOff x="3424425" y="1457126"/>
              <a:chExt cx="2294813" cy="2908246"/>
            </a:xfrm>
          </p:grpSpPr>
          <p:sp>
            <p:nvSpPr>
              <p:cNvPr id="22" name="Rounded Rectangle 16">
                <a:extLst>
                  <a:ext uri="{FF2B5EF4-FFF2-40B4-BE49-F238E27FC236}">
                    <a16:creationId xmlns:a16="http://schemas.microsoft.com/office/drawing/2014/main" id="{850A0D13-FB7D-A355-7D21-FB238D15BA41}"/>
                  </a:ext>
                </a:extLst>
              </p:cNvPr>
              <p:cNvSpPr/>
              <p:nvPr/>
            </p:nvSpPr>
            <p:spPr>
              <a:xfrm>
                <a:off x="3424425" y="1457126"/>
                <a:ext cx="2069491" cy="1117829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 dirty="0"/>
              </a:p>
            </p:txBody>
          </p:sp>
          <p:sp>
            <p:nvSpPr>
              <p:cNvPr id="23" name="Rounded Rectangle 17">
                <a:extLst>
                  <a:ext uri="{FF2B5EF4-FFF2-40B4-BE49-F238E27FC236}">
                    <a16:creationId xmlns:a16="http://schemas.microsoft.com/office/drawing/2014/main" id="{82657C83-C430-D20A-F1D9-2E71B411951A}"/>
                  </a:ext>
                </a:extLst>
              </p:cNvPr>
              <p:cNvSpPr/>
              <p:nvPr/>
            </p:nvSpPr>
            <p:spPr>
              <a:xfrm>
                <a:off x="3649747" y="2270618"/>
                <a:ext cx="2069491" cy="209475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 dirty="0"/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CAA1498-C28B-B2F0-8F5A-BB6643A20C35}"/>
                </a:ext>
              </a:extLst>
            </p:cNvPr>
            <p:cNvSpPr txBox="1"/>
            <p:nvPr/>
          </p:nvSpPr>
          <p:spPr>
            <a:xfrm>
              <a:off x="4813444" y="2360450"/>
              <a:ext cx="233400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>
                  <a:solidFill>
                    <a:schemeClr val="bg1"/>
                  </a:solidFill>
                  <a:cs typeface="Arial" pitchFamily="34" charset="0"/>
                </a:rPr>
                <a:t>Model Development and Evaluation</a:t>
              </a:r>
              <a:endParaRPr lang="ko-KR" altLang="en-US" sz="16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5" name="Text Placeholder 12">
              <a:extLst>
                <a:ext uri="{FF2B5EF4-FFF2-40B4-BE49-F238E27FC236}">
                  <a16:creationId xmlns:a16="http://schemas.microsoft.com/office/drawing/2014/main" id="{6F8976F4-6388-4E1C-62CD-BAE2BDB3E7D2}"/>
                </a:ext>
              </a:extLst>
            </p:cNvPr>
            <p:cNvSpPr txBox="1">
              <a:spLocks/>
            </p:cNvSpPr>
            <p:nvPr/>
          </p:nvSpPr>
          <p:spPr>
            <a:xfrm>
              <a:off x="5140124" y="3456007"/>
              <a:ext cx="2245925" cy="1154533"/>
            </a:xfrm>
            <a:prstGeom prst="rect">
              <a:avLst/>
            </a:prstGeom>
          </p:spPr>
          <p:txBody>
            <a:bodyPr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Build various machine learning models (e.g., decision trees, support vector machines, neural networks) to predict heart disease risk and assess their performance.</a:t>
              </a:r>
              <a:endPara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7CE91DE-0C77-3BAA-B22D-ADBECAAA841D}"/>
              </a:ext>
            </a:extLst>
          </p:cNvPr>
          <p:cNvGrpSpPr/>
          <p:nvPr/>
        </p:nvGrpSpPr>
        <p:grpSpPr>
          <a:xfrm>
            <a:off x="8278511" y="2170598"/>
            <a:ext cx="3059751" cy="3877661"/>
            <a:chOff x="8278511" y="2170598"/>
            <a:chExt cx="3059751" cy="3877661"/>
          </a:xfrm>
        </p:grpSpPr>
        <p:grpSp>
          <p:nvGrpSpPr>
            <p:cNvPr id="26" name="그룹 1">
              <a:extLst>
                <a:ext uri="{FF2B5EF4-FFF2-40B4-BE49-F238E27FC236}">
                  <a16:creationId xmlns:a16="http://schemas.microsoft.com/office/drawing/2014/main" id="{4FC9BF76-4D74-4194-1683-F79269182A0D}"/>
                </a:ext>
              </a:extLst>
            </p:cNvPr>
            <p:cNvGrpSpPr/>
            <p:nvPr/>
          </p:nvGrpSpPr>
          <p:grpSpPr>
            <a:xfrm>
              <a:off x="8278511" y="2170598"/>
              <a:ext cx="3059751" cy="3877661"/>
              <a:chOff x="6208715" y="1457126"/>
              <a:chExt cx="2294813" cy="2908246"/>
            </a:xfrm>
          </p:grpSpPr>
          <p:sp>
            <p:nvSpPr>
              <p:cNvPr id="27" name="Rounded Rectangle 25">
                <a:extLst>
                  <a:ext uri="{FF2B5EF4-FFF2-40B4-BE49-F238E27FC236}">
                    <a16:creationId xmlns:a16="http://schemas.microsoft.com/office/drawing/2014/main" id="{C8F8C583-04EE-2EE4-ED00-427B0355675A}"/>
                  </a:ext>
                </a:extLst>
              </p:cNvPr>
              <p:cNvSpPr/>
              <p:nvPr/>
            </p:nvSpPr>
            <p:spPr>
              <a:xfrm>
                <a:off x="6208715" y="1457126"/>
                <a:ext cx="2069491" cy="1117829"/>
              </a:xfrm>
              <a:prstGeom prst="round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 dirty="0"/>
              </a:p>
            </p:txBody>
          </p:sp>
          <p:sp>
            <p:nvSpPr>
              <p:cNvPr id="28" name="Rounded Rectangle 26">
                <a:extLst>
                  <a:ext uri="{FF2B5EF4-FFF2-40B4-BE49-F238E27FC236}">
                    <a16:creationId xmlns:a16="http://schemas.microsoft.com/office/drawing/2014/main" id="{7E2E8F63-CF7A-AD4B-653E-1755136F1EE5}"/>
                  </a:ext>
                </a:extLst>
              </p:cNvPr>
              <p:cNvSpPr/>
              <p:nvPr/>
            </p:nvSpPr>
            <p:spPr>
              <a:xfrm>
                <a:off x="6434037" y="2270619"/>
                <a:ext cx="2069491" cy="2094753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 dirty="0"/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5D22AB8-55C9-C2F3-5A90-1B37751DF525}"/>
                </a:ext>
              </a:extLst>
            </p:cNvPr>
            <p:cNvSpPr txBox="1"/>
            <p:nvPr/>
          </p:nvSpPr>
          <p:spPr>
            <a:xfrm>
              <a:off x="8525831" y="2360450"/>
              <a:ext cx="233400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>
                  <a:solidFill>
                    <a:schemeClr val="bg1"/>
                  </a:solidFill>
                  <a:cs typeface="Arial" pitchFamily="34" charset="0"/>
                </a:rPr>
                <a:t>Implementation of a Predictive Model</a:t>
              </a:r>
              <a:endParaRPr lang="ko-KR" altLang="en-US" sz="16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0" name="Text Placeholder 12">
              <a:extLst>
                <a:ext uri="{FF2B5EF4-FFF2-40B4-BE49-F238E27FC236}">
                  <a16:creationId xmlns:a16="http://schemas.microsoft.com/office/drawing/2014/main" id="{42235F9A-1161-0919-52C3-6E94E5D5CE6E}"/>
                </a:ext>
              </a:extLst>
            </p:cNvPr>
            <p:cNvSpPr txBox="1">
              <a:spLocks/>
            </p:cNvSpPr>
            <p:nvPr/>
          </p:nvSpPr>
          <p:spPr>
            <a:xfrm>
              <a:off x="8718798" y="3379310"/>
              <a:ext cx="2509203" cy="2007937"/>
            </a:xfrm>
            <a:prstGeom prst="rect">
              <a:avLst/>
            </a:prstGeom>
          </p:spPr>
          <p:txBody>
            <a:bodyPr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Train a machine learning model to assist healthcare professionals and individuals in detecting heart disease risk using input data.</a:t>
              </a:r>
              <a:endPara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31" name="Right Arrow 33">
            <a:extLst>
              <a:ext uri="{FF2B5EF4-FFF2-40B4-BE49-F238E27FC236}">
                <a16:creationId xmlns:a16="http://schemas.microsoft.com/office/drawing/2014/main" id="{6D9ABC87-9136-61D1-0AB3-3FB7D1153FF6}"/>
              </a:ext>
            </a:extLst>
          </p:cNvPr>
          <p:cNvSpPr/>
          <p:nvPr/>
        </p:nvSpPr>
        <p:spPr>
          <a:xfrm>
            <a:off x="3719325" y="2545940"/>
            <a:ext cx="739119" cy="646176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/>
          </a:p>
        </p:txBody>
      </p:sp>
      <p:sp>
        <p:nvSpPr>
          <p:cNvPr id="32" name="Right Arrow 34">
            <a:extLst>
              <a:ext uri="{FF2B5EF4-FFF2-40B4-BE49-F238E27FC236}">
                <a16:creationId xmlns:a16="http://schemas.microsoft.com/office/drawing/2014/main" id="{5840AD0B-6DFD-0BA0-87DF-29988E2D1247}"/>
              </a:ext>
            </a:extLst>
          </p:cNvPr>
          <p:cNvSpPr/>
          <p:nvPr/>
        </p:nvSpPr>
        <p:spPr>
          <a:xfrm>
            <a:off x="7436838" y="2545940"/>
            <a:ext cx="739119" cy="646176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03093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B250192-A69B-C177-BB4C-EC785527DA1F}"/>
              </a:ext>
            </a:extLst>
          </p:cNvPr>
          <p:cNvSpPr txBox="1"/>
          <p:nvPr/>
        </p:nvSpPr>
        <p:spPr>
          <a:xfrm>
            <a:off x="2508603" y="1489148"/>
            <a:ext cx="8541315" cy="145323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US" altLang="ko-KR" dirty="0">
                <a:solidFill>
                  <a:schemeClr val="bg1"/>
                </a:solidFill>
              </a:rPr>
              <a:t>Heart disease is the leading cause of death worldwide, accounting for 17.9 million deaths annually (32% of all deaths). Many of these deaths stem from preventable risk factors.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A70F514-A832-4458-BDDD-9B7797AE61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Problem </a:t>
            </a:r>
            <a:r>
              <a:rPr lang="en-US" dirty="0">
                <a:solidFill>
                  <a:schemeClr val="bg1"/>
                </a:solidFill>
              </a:rPr>
              <a:t>Statement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6031BC6-4B29-4EEB-B304-2E479BA2DC72}"/>
              </a:ext>
            </a:extLst>
          </p:cNvPr>
          <p:cNvGrpSpPr/>
          <p:nvPr/>
        </p:nvGrpSpPr>
        <p:grpSpPr>
          <a:xfrm>
            <a:off x="1304307" y="1665418"/>
            <a:ext cx="876283" cy="876283"/>
            <a:chOff x="5387528" y="1816814"/>
            <a:chExt cx="876283" cy="876283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302D670-7D72-4CB4-9FAD-A0C1391C5F1D}"/>
                </a:ext>
              </a:extLst>
            </p:cNvPr>
            <p:cNvSpPr/>
            <p:nvPr/>
          </p:nvSpPr>
          <p:spPr>
            <a:xfrm>
              <a:off x="5387528" y="1816814"/>
              <a:ext cx="876283" cy="876283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8" name="Parallelogram 30">
              <a:extLst>
                <a:ext uri="{FF2B5EF4-FFF2-40B4-BE49-F238E27FC236}">
                  <a16:creationId xmlns:a16="http://schemas.microsoft.com/office/drawing/2014/main" id="{3939B1EF-A1D8-4288-84B5-5B973E7A0B97}"/>
                </a:ext>
              </a:extLst>
            </p:cNvPr>
            <p:cNvSpPr/>
            <p:nvPr/>
          </p:nvSpPr>
          <p:spPr>
            <a:xfrm flipH="1">
              <a:off x="5590528" y="1983205"/>
              <a:ext cx="505471" cy="506721"/>
            </a:xfrm>
            <a:custGeom>
              <a:avLst/>
              <a:gdLst/>
              <a:ahLst/>
              <a:cxnLst/>
              <a:rect l="l" t="t" r="r" b="b"/>
              <a:pathLst>
                <a:path w="3240000" h="3248012">
                  <a:moveTo>
                    <a:pt x="712553" y="858820"/>
                  </a:moveTo>
                  <a:cubicBezTo>
                    <a:pt x="727950" y="858820"/>
                    <a:pt x="743348" y="864694"/>
                    <a:pt x="755096" y="876443"/>
                  </a:cubicBezTo>
                  <a:lnTo>
                    <a:pt x="1193671" y="1315016"/>
                  </a:lnTo>
                  <a:lnTo>
                    <a:pt x="1509169" y="999517"/>
                  </a:lnTo>
                  <a:cubicBezTo>
                    <a:pt x="1509517" y="999169"/>
                    <a:pt x="1509868" y="998827"/>
                    <a:pt x="1510414" y="998691"/>
                  </a:cubicBezTo>
                  <a:lnTo>
                    <a:pt x="1518932" y="988592"/>
                  </a:lnTo>
                  <a:cubicBezTo>
                    <a:pt x="1531945" y="978263"/>
                    <a:pt x="1547912" y="974188"/>
                    <a:pt x="1563209" y="975946"/>
                  </a:cubicBezTo>
                  <a:cubicBezTo>
                    <a:pt x="1578505" y="977705"/>
                    <a:pt x="1593131" y="985299"/>
                    <a:pt x="1603459" y="998313"/>
                  </a:cubicBezTo>
                  <a:lnTo>
                    <a:pt x="1892346" y="1362277"/>
                  </a:lnTo>
                  <a:lnTo>
                    <a:pt x="2149759" y="1177067"/>
                  </a:lnTo>
                  <a:lnTo>
                    <a:pt x="2151621" y="1174867"/>
                  </a:lnTo>
                  <a:cubicBezTo>
                    <a:pt x="2159033" y="1169006"/>
                    <a:pt x="2167397" y="1165168"/>
                    <a:pt x="2176160" y="1163802"/>
                  </a:cubicBezTo>
                  <a:cubicBezTo>
                    <a:pt x="2177188" y="1163485"/>
                    <a:pt x="2178237" y="1163269"/>
                    <a:pt x="2179375" y="1163558"/>
                  </a:cubicBezTo>
                  <a:cubicBezTo>
                    <a:pt x="2184768" y="1161771"/>
                    <a:pt x="2190389" y="1161654"/>
                    <a:pt x="2195921" y="1162300"/>
                  </a:cubicBezTo>
                  <a:cubicBezTo>
                    <a:pt x="2196662" y="1162386"/>
                    <a:pt x="2197402" y="1162487"/>
                    <a:pt x="2198081" y="1162987"/>
                  </a:cubicBezTo>
                  <a:cubicBezTo>
                    <a:pt x="2202197" y="1163290"/>
                    <a:pt x="2206218" y="1164270"/>
                    <a:pt x="2209739" y="1166702"/>
                  </a:cubicBezTo>
                  <a:cubicBezTo>
                    <a:pt x="2213116" y="1166857"/>
                    <a:pt x="2216051" y="1168231"/>
                    <a:pt x="2218766" y="1170038"/>
                  </a:cubicBezTo>
                  <a:cubicBezTo>
                    <a:pt x="2225342" y="1173160"/>
                    <a:pt x="2231151" y="1177875"/>
                    <a:pt x="2235489" y="1184194"/>
                  </a:cubicBezTo>
                  <a:lnTo>
                    <a:pt x="2236132" y="1184737"/>
                  </a:lnTo>
                  <a:lnTo>
                    <a:pt x="2236287" y="1184934"/>
                  </a:lnTo>
                  <a:lnTo>
                    <a:pt x="2238712" y="1187183"/>
                  </a:lnTo>
                  <a:cubicBezTo>
                    <a:pt x="2239115" y="1187744"/>
                    <a:pt x="2239507" y="1188310"/>
                    <a:pt x="2239574" y="1189090"/>
                  </a:cubicBezTo>
                  <a:lnTo>
                    <a:pt x="2540580" y="1569705"/>
                  </a:lnTo>
                  <a:cubicBezTo>
                    <a:pt x="2561191" y="1595768"/>
                    <a:pt x="2556772" y="1633604"/>
                    <a:pt x="2530710" y="1654215"/>
                  </a:cubicBezTo>
                  <a:cubicBezTo>
                    <a:pt x="2504647" y="1674827"/>
                    <a:pt x="2466811" y="1670408"/>
                    <a:pt x="2446199" y="1644345"/>
                  </a:cubicBezTo>
                  <a:lnTo>
                    <a:pt x="2177884" y="1305067"/>
                  </a:lnTo>
                  <a:lnTo>
                    <a:pt x="1934804" y="1479967"/>
                  </a:lnTo>
                  <a:cubicBezTo>
                    <a:pt x="1927367" y="1485317"/>
                    <a:pt x="1919123" y="1488726"/>
                    <a:pt x="1910598" y="1489881"/>
                  </a:cubicBezTo>
                  <a:cubicBezTo>
                    <a:pt x="1885257" y="1507791"/>
                    <a:pt x="1850121" y="1502627"/>
                    <a:pt x="1830495" y="1477903"/>
                  </a:cubicBezTo>
                  <a:lnTo>
                    <a:pt x="1551924" y="1126933"/>
                  </a:lnTo>
                  <a:lnTo>
                    <a:pt x="1239041" y="1439816"/>
                  </a:lnTo>
                  <a:cubicBezTo>
                    <a:pt x="1226569" y="1452288"/>
                    <a:pt x="1209983" y="1458139"/>
                    <a:pt x="1193674" y="1456888"/>
                  </a:cubicBezTo>
                  <a:cubicBezTo>
                    <a:pt x="1177363" y="1458142"/>
                    <a:pt x="1160774" y="1452290"/>
                    <a:pt x="1148301" y="1439816"/>
                  </a:cubicBezTo>
                  <a:lnTo>
                    <a:pt x="670011" y="961527"/>
                  </a:lnTo>
                  <a:cubicBezTo>
                    <a:pt x="646515" y="938031"/>
                    <a:pt x="646515" y="899938"/>
                    <a:pt x="670011" y="876442"/>
                  </a:cubicBezTo>
                  <a:cubicBezTo>
                    <a:pt x="681760" y="864694"/>
                    <a:pt x="697157" y="858820"/>
                    <a:pt x="712553" y="858820"/>
                  </a:cubicBezTo>
                  <a:close/>
                  <a:moveTo>
                    <a:pt x="2790000" y="699581"/>
                  </a:moveTo>
                  <a:lnTo>
                    <a:pt x="450000" y="699581"/>
                  </a:lnTo>
                  <a:lnTo>
                    <a:pt x="450000" y="1851581"/>
                  </a:lnTo>
                  <a:lnTo>
                    <a:pt x="2790000" y="1851581"/>
                  </a:lnTo>
                  <a:close/>
                  <a:moveTo>
                    <a:pt x="2987972" y="519497"/>
                  </a:moveTo>
                  <a:lnTo>
                    <a:pt x="2987972" y="2031665"/>
                  </a:lnTo>
                  <a:lnTo>
                    <a:pt x="252028" y="2031665"/>
                  </a:lnTo>
                  <a:lnTo>
                    <a:pt x="252028" y="519497"/>
                  </a:lnTo>
                  <a:close/>
                  <a:moveTo>
                    <a:pt x="1620000" y="0"/>
                  </a:moveTo>
                  <a:cubicBezTo>
                    <a:pt x="1540462" y="0"/>
                    <a:pt x="1475984" y="64478"/>
                    <a:pt x="1475984" y="144016"/>
                  </a:cubicBezTo>
                  <a:lnTo>
                    <a:pt x="1475984" y="267469"/>
                  </a:lnTo>
                  <a:lnTo>
                    <a:pt x="0" y="267469"/>
                  </a:lnTo>
                  <a:lnTo>
                    <a:pt x="0" y="2283693"/>
                  </a:lnTo>
                  <a:lnTo>
                    <a:pt x="852101" y="2283693"/>
                  </a:lnTo>
                  <a:lnTo>
                    <a:pt x="323771" y="3248012"/>
                  </a:lnTo>
                  <a:lnTo>
                    <a:pt x="621526" y="3248012"/>
                  </a:lnTo>
                  <a:lnTo>
                    <a:pt x="1149856" y="2283693"/>
                  </a:lnTo>
                  <a:lnTo>
                    <a:pt x="2090146" y="2283693"/>
                  </a:lnTo>
                  <a:lnTo>
                    <a:pt x="2618476" y="3248012"/>
                  </a:lnTo>
                  <a:lnTo>
                    <a:pt x="2916231" y="3248012"/>
                  </a:lnTo>
                  <a:lnTo>
                    <a:pt x="2387901" y="2283693"/>
                  </a:lnTo>
                  <a:lnTo>
                    <a:pt x="3240000" y="2283693"/>
                  </a:lnTo>
                  <a:lnTo>
                    <a:pt x="3240000" y="267469"/>
                  </a:lnTo>
                  <a:lnTo>
                    <a:pt x="1764016" y="267469"/>
                  </a:lnTo>
                  <a:lnTo>
                    <a:pt x="1764016" y="144016"/>
                  </a:lnTo>
                  <a:cubicBezTo>
                    <a:pt x="1764016" y="64478"/>
                    <a:pt x="1699538" y="0"/>
                    <a:pt x="1620000" y="0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7184A63-9ED6-41A7-946C-D2C8B75AB3D3}"/>
              </a:ext>
            </a:extLst>
          </p:cNvPr>
          <p:cNvGrpSpPr/>
          <p:nvPr/>
        </p:nvGrpSpPr>
        <p:grpSpPr>
          <a:xfrm>
            <a:off x="1304307" y="2942381"/>
            <a:ext cx="876283" cy="876283"/>
            <a:chOff x="5436812" y="5038120"/>
            <a:chExt cx="876283" cy="876283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AF2C670-1B42-4847-B31E-7F8CAF185783}"/>
                </a:ext>
              </a:extLst>
            </p:cNvPr>
            <p:cNvSpPr/>
            <p:nvPr/>
          </p:nvSpPr>
          <p:spPr>
            <a:xfrm>
              <a:off x="5436812" y="5038120"/>
              <a:ext cx="876283" cy="876283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 dirty="0"/>
            </a:p>
          </p:txBody>
        </p:sp>
        <p:sp>
          <p:nvSpPr>
            <p:cNvPr id="11" name="Parallelogram 15">
              <a:extLst>
                <a:ext uri="{FF2B5EF4-FFF2-40B4-BE49-F238E27FC236}">
                  <a16:creationId xmlns:a16="http://schemas.microsoft.com/office/drawing/2014/main" id="{ECCD4D94-84EE-4428-A5EB-C5836A4AC7C4}"/>
                </a:ext>
              </a:extLst>
            </p:cNvPr>
            <p:cNvSpPr/>
            <p:nvPr/>
          </p:nvSpPr>
          <p:spPr>
            <a:xfrm flipH="1">
              <a:off x="5605635" y="5221022"/>
              <a:ext cx="553865" cy="553865"/>
            </a:xfrm>
            <a:custGeom>
              <a:avLst/>
              <a:gdLst/>
              <a:ahLst/>
              <a:cxnLst/>
              <a:rect l="l" t="t" r="r" b="b"/>
              <a:pathLst>
                <a:path w="3242753" h="3227814">
                  <a:moveTo>
                    <a:pt x="1621376" y="1043635"/>
                  </a:moveTo>
                  <a:cubicBezTo>
                    <a:pt x="1557188" y="1043635"/>
                    <a:pt x="1505154" y="1095669"/>
                    <a:pt x="1505154" y="1159857"/>
                  </a:cubicBezTo>
                  <a:lnTo>
                    <a:pt x="1505154" y="1625483"/>
                  </a:lnTo>
                  <a:lnTo>
                    <a:pt x="1033577" y="1625483"/>
                  </a:lnTo>
                  <a:cubicBezTo>
                    <a:pt x="969389" y="1625483"/>
                    <a:pt x="917355" y="1677517"/>
                    <a:pt x="917355" y="1741705"/>
                  </a:cubicBezTo>
                  <a:cubicBezTo>
                    <a:pt x="917355" y="1805893"/>
                    <a:pt x="969389" y="1857927"/>
                    <a:pt x="1033577" y="1857927"/>
                  </a:cubicBezTo>
                  <a:lnTo>
                    <a:pt x="1614688" y="1857927"/>
                  </a:lnTo>
                  <a:lnTo>
                    <a:pt x="1619859" y="1856884"/>
                  </a:lnTo>
                  <a:cubicBezTo>
                    <a:pt x="1620361" y="1857187"/>
                    <a:pt x="1620868" y="1857190"/>
                    <a:pt x="1621376" y="1857190"/>
                  </a:cubicBezTo>
                  <a:cubicBezTo>
                    <a:pt x="1685564" y="1857190"/>
                    <a:pt x="1737598" y="1805156"/>
                    <a:pt x="1737598" y="1740968"/>
                  </a:cubicBezTo>
                  <a:lnTo>
                    <a:pt x="1737598" y="1159857"/>
                  </a:lnTo>
                  <a:cubicBezTo>
                    <a:pt x="1737598" y="1095669"/>
                    <a:pt x="1685564" y="1043635"/>
                    <a:pt x="1621376" y="1043635"/>
                  </a:cubicBezTo>
                  <a:close/>
                  <a:moveTo>
                    <a:pt x="1621376" y="628818"/>
                  </a:moveTo>
                  <a:cubicBezTo>
                    <a:pt x="2206882" y="628818"/>
                    <a:pt x="2681529" y="1103464"/>
                    <a:pt x="2681529" y="1688970"/>
                  </a:cubicBezTo>
                  <a:cubicBezTo>
                    <a:pt x="2681529" y="2274476"/>
                    <a:pt x="2206882" y="2749122"/>
                    <a:pt x="1621376" y="2749122"/>
                  </a:cubicBezTo>
                  <a:cubicBezTo>
                    <a:pt x="1035870" y="2749122"/>
                    <a:pt x="561223" y="2274476"/>
                    <a:pt x="561223" y="1688970"/>
                  </a:cubicBezTo>
                  <a:cubicBezTo>
                    <a:pt x="561223" y="1103464"/>
                    <a:pt x="1035870" y="628818"/>
                    <a:pt x="1621376" y="628818"/>
                  </a:cubicBezTo>
                  <a:close/>
                  <a:moveTo>
                    <a:pt x="1621376" y="424596"/>
                  </a:moveTo>
                  <a:cubicBezTo>
                    <a:pt x="923081" y="424596"/>
                    <a:pt x="357001" y="990676"/>
                    <a:pt x="357001" y="1688970"/>
                  </a:cubicBezTo>
                  <a:cubicBezTo>
                    <a:pt x="357001" y="2128645"/>
                    <a:pt x="581423" y="2515905"/>
                    <a:pt x="922189" y="2742109"/>
                  </a:cubicBezTo>
                  <a:lnTo>
                    <a:pt x="652992" y="3227814"/>
                  </a:lnTo>
                  <a:lnTo>
                    <a:pt x="911997" y="3227814"/>
                  </a:lnTo>
                  <a:lnTo>
                    <a:pt x="1121304" y="2850168"/>
                  </a:lnTo>
                  <a:cubicBezTo>
                    <a:pt x="1274563" y="2916691"/>
                    <a:pt x="1443689" y="2953344"/>
                    <a:pt x="1621376" y="2953344"/>
                  </a:cubicBezTo>
                  <a:cubicBezTo>
                    <a:pt x="1799063" y="2953344"/>
                    <a:pt x="1968189" y="2916691"/>
                    <a:pt x="2121449" y="2850168"/>
                  </a:cubicBezTo>
                  <a:lnTo>
                    <a:pt x="2330755" y="3227814"/>
                  </a:lnTo>
                  <a:lnTo>
                    <a:pt x="2589760" y="3227814"/>
                  </a:lnTo>
                  <a:lnTo>
                    <a:pt x="2320563" y="2742109"/>
                  </a:lnTo>
                  <a:cubicBezTo>
                    <a:pt x="2661329" y="2515905"/>
                    <a:pt x="2885751" y="2128645"/>
                    <a:pt x="2885751" y="1688970"/>
                  </a:cubicBezTo>
                  <a:cubicBezTo>
                    <a:pt x="2885751" y="990676"/>
                    <a:pt x="2319671" y="424596"/>
                    <a:pt x="1621376" y="424596"/>
                  </a:cubicBezTo>
                  <a:close/>
                  <a:moveTo>
                    <a:pt x="2599800" y="123238"/>
                  </a:moveTo>
                  <a:cubicBezTo>
                    <a:pt x="2434609" y="120698"/>
                    <a:pt x="2268460" y="180476"/>
                    <a:pt x="2139563" y="303161"/>
                  </a:cubicBezTo>
                  <a:lnTo>
                    <a:pt x="3057258" y="1232053"/>
                  </a:lnTo>
                  <a:cubicBezTo>
                    <a:pt x="3305736" y="977255"/>
                    <a:pt x="3304415" y="570405"/>
                    <a:pt x="3054287" y="317226"/>
                  </a:cubicBezTo>
                  <a:cubicBezTo>
                    <a:pt x="2929224" y="190636"/>
                    <a:pt x="2764991" y="125778"/>
                    <a:pt x="2599800" y="123238"/>
                  </a:cubicBezTo>
                  <a:close/>
                  <a:moveTo>
                    <a:pt x="642953" y="123238"/>
                  </a:moveTo>
                  <a:cubicBezTo>
                    <a:pt x="477762" y="125778"/>
                    <a:pt x="313529" y="190636"/>
                    <a:pt x="188466" y="317226"/>
                  </a:cubicBezTo>
                  <a:cubicBezTo>
                    <a:pt x="-61662" y="570405"/>
                    <a:pt x="-62983" y="977255"/>
                    <a:pt x="185495" y="1232053"/>
                  </a:cubicBezTo>
                  <a:lnTo>
                    <a:pt x="1103190" y="303161"/>
                  </a:lnTo>
                  <a:cubicBezTo>
                    <a:pt x="974294" y="180476"/>
                    <a:pt x="808144" y="120698"/>
                    <a:pt x="642953" y="123238"/>
                  </a:cubicBezTo>
                  <a:close/>
                  <a:moveTo>
                    <a:pt x="1722692" y="0"/>
                  </a:moveTo>
                  <a:lnTo>
                    <a:pt x="1520061" y="0"/>
                  </a:lnTo>
                  <a:cubicBezTo>
                    <a:pt x="1440152" y="0"/>
                    <a:pt x="1375373" y="64779"/>
                    <a:pt x="1375373" y="144688"/>
                  </a:cubicBezTo>
                  <a:lnTo>
                    <a:pt x="1375373" y="289376"/>
                  </a:lnTo>
                  <a:lnTo>
                    <a:pt x="1867380" y="289376"/>
                  </a:lnTo>
                  <a:lnTo>
                    <a:pt x="1867380" y="144688"/>
                  </a:lnTo>
                  <a:cubicBezTo>
                    <a:pt x="1867380" y="64779"/>
                    <a:pt x="1802601" y="0"/>
                    <a:pt x="17226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7F77B61-B0F7-476A-899F-CDA2DDD7932D}"/>
              </a:ext>
            </a:extLst>
          </p:cNvPr>
          <p:cNvGrpSpPr/>
          <p:nvPr/>
        </p:nvGrpSpPr>
        <p:grpSpPr>
          <a:xfrm>
            <a:off x="1304307" y="4219344"/>
            <a:ext cx="903169" cy="903169"/>
            <a:chOff x="1304307" y="4114244"/>
            <a:chExt cx="903169" cy="903169"/>
          </a:xfrm>
        </p:grpSpPr>
        <p:sp>
          <p:nvSpPr>
            <p:cNvPr id="12" name="Oval 98">
              <a:extLst>
                <a:ext uri="{FF2B5EF4-FFF2-40B4-BE49-F238E27FC236}">
                  <a16:creationId xmlns:a16="http://schemas.microsoft.com/office/drawing/2014/main" id="{FE942DB9-7338-4148-BE1D-C56F40B91582}"/>
                </a:ext>
              </a:extLst>
            </p:cNvPr>
            <p:cNvSpPr/>
            <p:nvPr/>
          </p:nvSpPr>
          <p:spPr>
            <a:xfrm>
              <a:off x="1304307" y="4114244"/>
              <a:ext cx="903169" cy="903169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Oval 25">
              <a:extLst>
                <a:ext uri="{FF2B5EF4-FFF2-40B4-BE49-F238E27FC236}">
                  <a16:creationId xmlns:a16="http://schemas.microsoft.com/office/drawing/2014/main" id="{CF3320F0-1A01-4DF7-AF9F-BCE690D5482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23013" y="4231228"/>
              <a:ext cx="668289" cy="669201"/>
            </a:xfrm>
            <a:custGeom>
              <a:avLst/>
              <a:gdLst/>
              <a:ahLst/>
              <a:cxnLst/>
              <a:rect l="l" t="t" r="r" b="b"/>
              <a:pathLst>
                <a:path w="3225370" h="3229762">
                  <a:moveTo>
                    <a:pt x="1355872" y="0"/>
                  </a:moveTo>
                  <a:cubicBezTo>
                    <a:pt x="1564636" y="0"/>
                    <a:pt x="1733872" y="169236"/>
                    <a:pt x="1733872" y="378000"/>
                  </a:cubicBezTo>
                  <a:cubicBezTo>
                    <a:pt x="1733872" y="530834"/>
                    <a:pt x="1643169" y="662483"/>
                    <a:pt x="1512292" y="721255"/>
                  </a:cubicBezTo>
                  <a:lnTo>
                    <a:pt x="1607042" y="1169019"/>
                  </a:lnTo>
                  <a:cubicBezTo>
                    <a:pt x="1611319" y="1167786"/>
                    <a:pt x="1615651" y="1167712"/>
                    <a:pt x="1620000" y="1167712"/>
                  </a:cubicBezTo>
                  <a:cubicBezTo>
                    <a:pt x="1828764" y="1167712"/>
                    <a:pt x="1998000" y="1336948"/>
                    <a:pt x="1998000" y="1545712"/>
                  </a:cubicBezTo>
                  <a:lnTo>
                    <a:pt x="1996362" y="1567711"/>
                  </a:lnTo>
                  <a:lnTo>
                    <a:pt x="2525816" y="1711728"/>
                  </a:lnTo>
                  <a:cubicBezTo>
                    <a:pt x="2591164" y="1602543"/>
                    <a:pt x="2710810" y="1530128"/>
                    <a:pt x="2847370" y="1530128"/>
                  </a:cubicBezTo>
                  <a:cubicBezTo>
                    <a:pt x="3056134" y="1530128"/>
                    <a:pt x="3225370" y="1699364"/>
                    <a:pt x="3225370" y="1908128"/>
                  </a:cubicBezTo>
                  <a:cubicBezTo>
                    <a:pt x="3225370" y="2116892"/>
                    <a:pt x="3056134" y="2286128"/>
                    <a:pt x="2847370" y="2286128"/>
                  </a:cubicBezTo>
                  <a:cubicBezTo>
                    <a:pt x="2638606" y="2286128"/>
                    <a:pt x="2469370" y="2116892"/>
                    <a:pt x="2469370" y="1908128"/>
                  </a:cubicBezTo>
                  <a:lnTo>
                    <a:pt x="2475505" y="1847275"/>
                  </a:lnTo>
                  <a:lnTo>
                    <a:pt x="1957861" y="1706471"/>
                  </a:lnTo>
                  <a:cubicBezTo>
                    <a:pt x="1922674" y="1789256"/>
                    <a:pt x="1855841" y="1854310"/>
                    <a:pt x="1773397" y="1890608"/>
                  </a:cubicBezTo>
                  <a:lnTo>
                    <a:pt x="1908290" y="2478637"/>
                  </a:lnTo>
                  <a:cubicBezTo>
                    <a:pt x="2094333" y="2500701"/>
                    <a:pt x="2237929" y="2659462"/>
                    <a:pt x="2237929" y="2851762"/>
                  </a:cubicBezTo>
                  <a:cubicBezTo>
                    <a:pt x="2237929" y="3060526"/>
                    <a:pt x="2068693" y="3229762"/>
                    <a:pt x="1859929" y="3229762"/>
                  </a:cubicBezTo>
                  <a:cubicBezTo>
                    <a:pt x="1651165" y="3229762"/>
                    <a:pt x="1481929" y="3060526"/>
                    <a:pt x="1481929" y="2851762"/>
                  </a:cubicBezTo>
                  <a:cubicBezTo>
                    <a:pt x="1481929" y="2676759"/>
                    <a:pt x="1600854" y="2529533"/>
                    <a:pt x="1762693" y="2487978"/>
                  </a:cubicBezTo>
                  <a:lnTo>
                    <a:pt x="1632951" y="1922407"/>
                  </a:lnTo>
                  <a:cubicBezTo>
                    <a:pt x="1628677" y="1923639"/>
                    <a:pt x="1624347" y="1923712"/>
                    <a:pt x="1620000" y="1923712"/>
                  </a:cubicBezTo>
                  <a:cubicBezTo>
                    <a:pt x="1474614" y="1923712"/>
                    <a:pt x="1348399" y="1841634"/>
                    <a:pt x="1286703" y="1720478"/>
                  </a:cubicBezTo>
                  <a:lnTo>
                    <a:pt x="726463" y="1950491"/>
                  </a:lnTo>
                  <a:cubicBezTo>
                    <a:pt x="745503" y="1995553"/>
                    <a:pt x="756000" y="2045092"/>
                    <a:pt x="756000" y="2097083"/>
                  </a:cubicBezTo>
                  <a:cubicBezTo>
                    <a:pt x="756000" y="2305847"/>
                    <a:pt x="586764" y="2475083"/>
                    <a:pt x="378000" y="2475083"/>
                  </a:cubicBezTo>
                  <a:cubicBezTo>
                    <a:pt x="169236" y="2475083"/>
                    <a:pt x="0" y="2305847"/>
                    <a:pt x="0" y="2097083"/>
                  </a:cubicBezTo>
                  <a:cubicBezTo>
                    <a:pt x="0" y="1888319"/>
                    <a:pt x="169236" y="1719083"/>
                    <a:pt x="378000" y="1719083"/>
                  </a:cubicBezTo>
                  <a:cubicBezTo>
                    <a:pt x="481765" y="1719083"/>
                    <a:pt x="575764" y="1760894"/>
                    <a:pt x="643957" y="1828700"/>
                  </a:cubicBezTo>
                  <a:lnTo>
                    <a:pt x="1245626" y="1581679"/>
                  </a:lnTo>
                  <a:cubicBezTo>
                    <a:pt x="1242578" y="1569964"/>
                    <a:pt x="1242000" y="1557905"/>
                    <a:pt x="1242000" y="1545712"/>
                  </a:cubicBezTo>
                  <a:cubicBezTo>
                    <a:pt x="1242000" y="1391666"/>
                    <a:pt x="1334148" y="1259142"/>
                    <a:pt x="1466584" y="1200827"/>
                  </a:cubicBezTo>
                  <a:lnTo>
                    <a:pt x="1372109" y="754363"/>
                  </a:lnTo>
                  <a:cubicBezTo>
                    <a:pt x="1366762" y="755885"/>
                    <a:pt x="1361331" y="756000"/>
                    <a:pt x="1355872" y="756000"/>
                  </a:cubicBezTo>
                  <a:cubicBezTo>
                    <a:pt x="1147108" y="756000"/>
                    <a:pt x="977872" y="586764"/>
                    <a:pt x="977872" y="378000"/>
                  </a:cubicBezTo>
                  <a:cubicBezTo>
                    <a:pt x="977872" y="169236"/>
                    <a:pt x="1147108" y="0"/>
                    <a:pt x="13558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473FDF7-A090-4B81-A835-21F6C36213C7}"/>
              </a:ext>
            </a:extLst>
          </p:cNvPr>
          <p:cNvGrpSpPr/>
          <p:nvPr/>
        </p:nvGrpSpPr>
        <p:grpSpPr>
          <a:xfrm>
            <a:off x="1304307" y="5523193"/>
            <a:ext cx="876283" cy="876283"/>
            <a:chOff x="5436812" y="3417271"/>
            <a:chExt cx="876283" cy="876283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D72D20D-8FA2-42FD-B3C9-D97541EBC553}"/>
                </a:ext>
              </a:extLst>
            </p:cNvPr>
            <p:cNvSpPr/>
            <p:nvPr/>
          </p:nvSpPr>
          <p:spPr>
            <a:xfrm>
              <a:off x="5436812" y="3417271"/>
              <a:ext cx="876283" cy="876283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16" name="Smiley Face 15">
              <a:extLst>
                <a:ext uri="{FF2B5EF4-FFF2-40B4-BE49-F238E27FC236}">
                  <a16:creationId xmlns:a16="http://schemas.microsoft.com/office/drawing/2014/main" id="{17034953-7B50-4259-A984-2C40B8610710}"/>
                </a:ext>
              </a:extLst>
            </p:cNvPr>
            <p:cNvSpPr/>
            <p:nvPr/>
          </p:nvSpPr>
          <p:spPr>
            <a:xfrm>
              <a:off x="5598572" y="3571408"/>
              <a:ext cx="568008" cy="568008"/>
            </a:xfrm>
            <a:custGeom>
              <a:avLst/>
              <a:gdLst/>
              <a:ahLst/>
              <a:cxnLst/>
              <a:rect l="l" t="t" r="r" b="b"/>
              <a:pathLst>
                <a:path w="3240000" h="3240000">
                  <a:moveTo>
                    <a:pt x="2298433" y="2114441"/>
                  </a:moveTo>
                  <a:lnTo>
                    <a:pt x="1355104" y="2367205"/>
                  </a:lnTo>
                  <a:lnTo>
                    <a:pt x="1411009" y="2575845"/>
                  </a:lnTo>
                  <a:lnTo>
                    <a:pt x="2354338" y="2323081"/>
                  </a:lnTo>
                  <a:close/>
                  <a:moveTo>
                    <a:pt x="2165423" y="986226"/>
                  </a:moveTo>
                  <a:cubicBezTo>
                    <a:pt x="2072622" y="986226"/>
                    <a:pt x="1997392" y="1061456"/>
                    <a:pt x="1997392" y="1154257"/>
                  </a:cubicBezTo>
                  <a:cubicBezTo>
                    <a:pt x="1997392" y="1247058"/>
                    <a:pt x="2072622" y="1322288"/>
                    <a:pt x="2165423" y="1322288"/>
                  </a:cubicBezTo>
                  <a:cubicBezTo>
                    <a:pt x="2258224" y="1322288"/>
                    <a:pt x="2333454" y="1247058"/>
                    <a:pt x="2333454" y="1154257"/>
                  </a:cubicBezTo>
                  <a:cubicBezTo>
                    <a:pt x="2333454" y="1061456"/>
                    <a:pt x="2258224" y="986226"/>
                    <a:pt x="2165423" y="986226"/>
                  </a:cubicBezTo>
                  <a:close/>
                  <a:moveTo>
                    <a:pt x="1107401" y="986226"/>
                  </a:moveTo>
                  <a:cubicBezTo>
                    <a:pt x="1014600" y="986226"/>
                    <a:pt x="939370" y="1061456"/>
                    <a:pt x="939370" y="1154257"/>
                  </a:cubicBezTo>
                  <a:cubicBezTo>
                    <a:pt x="939370" y="1247058"/>
                    <a:pt x="1014600" y="1322288"/>
                    <a:pt x="1107401" y="1322288"/>
                  </a:cubicBezTo>
                  <a:cubicBezTo>
                    <a:pt x="1200202" y="1322288"/>
                    <a:pt x="1275432" y="1247058"/>
                    <a:pt x="1275432" y="1154257"/>
                  </a:cubicBezTo>
                  <a:cubicBezTo>
                    <a:pt x="1275432" y="1061456"/>
                    <a:pt x="1200202" y="986226"/>
                    <a:pt x="1107401" y="986226"/>
                  </a:cubicBezTo>
                  <a:close/>
                  <a:moveTo>
                    <a:pt x="1620000" y="0"/>
                  </a:moveTo>
                  <a:lnTo>
                    <a:pt x="1785636" y="8364"/>
                  </a:lnTo>
                  <a:lnTo>
                    <a:pt x="1946487" y="32913"/>
                  </a:lnTo>
                  <a:lnTo>
                    <a:pt x="2101738" y="72832"/>
                  </a:lnTo>
                  <a:lnTo>
                    <a:pt x="2250577" y="127308"/>
                  </a:lnTo>
                  <a:lnTo>
                    <a:pt x="2392188" y="195525"/>
                  </a:lnTo>
                  <a:lnTo>
                    <a:pt x="2525757" y="276671"/>
                  </a:lnTo>
                  <a:lnTo>
                    <a:pt x="2650470" y="369929"/>
                  </a:lnTo>
                  <a:lnTo>
                    <a:pt x="2765513" y="474487"/>
                  </a:lnTo>
                  <a:lnTo>
                    <a:pt x="2870071" y="589530"/>
                  </a:lnTo>
                  <a:lnTo>
                    <a:pt x="2963329" y="714243"/>
                  </a:lnTo>
                  <a:lnTo>
                    <a:pt x="3044475" y="847812"/>
                  </a:lnTo>
                  <a:lnTo>
                    <a:pt x="3112693" y="989423"/>
                  </a:lnTo>
                  <a:lnTo>
                    <a:pt x="3167168" y="1138262"/>
                  </a:lnTo>
                  <a:lnTo>
                    <a:pt x="3207088" y="1293514"/>
                  </a:lnTo>
                  <a:lnTo>
                    <a:pt x="3231636" y="1454365"/>
                  </a:lnTo>
                  <a:lnTo>
                    <a:pt x="3240000" y="1620000"/>
                  </a:lnTo>
                  <a:lnTo>
                    <a:pt x="3231636" y="1785636"/>
                  </a:lnTo>
                  <a:lnTo>
                    <a:pt x="3207088" y="1946487"/>
                  </a:lnTo>
                  <a:lnTo>
                    <a:pt x="3167168" y="2101739"/>
                  </a:lnTo>
                  <a:lnTo>
                    <a:pt x="3112693" y="2250577"/>
                  </a:lnTo>
                  <a:lnTo>
                    <a:pt x="3044475" y="2392188"/>
                  </a:lnTo>
                  <a:lnTo>
                    <a:pt x="2963329" y="2525758"/>
                  </a:lnTo>
                  <a:lnTo>
                    <a:pt x="2870071" y="2650471"/>
                  </a:lnTo>
                  <a:lnTo>
                    <a:pt x="2765513" y="2765513"/>
                  </a:lnTo>
                  <a:lnTo>
                    <a:pt x="2650470" y="2870071"/>
                  </a:lnTo>
                  <a:lnTo>
                    <a:pt x="2525757" y="2963330"/>
                  </a:lnTo>
                  <a:lnTo>
                    <a:pt x="2392188" y="3044475"/>
                  </a:lnTo>
                  <a:lnTo>
                    <a:pt x="2250577" y="3112693"/>
                  </a:lnTo>
                  <a:lnTo>
                    <a:pt x="2101738" y="3167168"/>
                  </a:lnTo>
                  <a:lnTo>
                    <a:pt x="1946487" y="3207088"/>
                  </a:lnTo>
                  <a:lnTo>
                    <a:pt x="1785636" y="3231636"/>
                  </a:lnTo>
                  <a:cubicBezTo>
                    <a:pt x="1731176" y="3237167"/>
                    <a:pt x="1675919" y="3240000"/>
                    <a:pt x="1620000" y="3240000"/>
                  </a:cubicBezTo>
                  <a:cubicBezTo>
                    <a:pt x="1508162" y="3240000"/>
                    <a:pt x="1398972" y="3228667"/>
                    <a:pt x="1293514" y="3207088"/>
                  </a:cubicBezTo>
                  <a:cubicBezTo>
                    <a:pt x="1240785" y="3196298"/>
                    <a:pt x="1188989" y="3182946"/>
                    <a:pt x="1138262" y="3167168"/>
                  </a:cubicBezTo>
                  <a:cubicBezTo>
                    <a:pt x="1087535" y="3151390"/>
                    <a:pt x="1037877" y="3133187"/>
                    <a:pt x="989423" y="3112693"/>
                  </a:cubicBezTo>
                  <a:cubicBezTo>
                    <a:pt x="940970" y="3092198"/>
                    <a:pt x="893721" y="3069414"/>
                    <a:pt x="847812" y="3044475"/>
                  </a:cubicBezTo>
                  <a:cubicBezTo>
                    <a:pt x="801903" y="3019536"/>
                    <a:pt x="757335" y="2992442"/>
                    <a:pt x="714243" y="2963330"/>
                  </a:cubicBezTo>
                  <a:cubicBezTo>
                    <a:pt x="671151" y="2934217"/>
                    <a:pt x="629534" y="2903086"/>
                    <a:pt x="589530" y="2870071"/>
                  </a:cubicBezTo>
                  <a:cubicBezTo>
                    <a:pt x="549525" y="2837056"/>
                    <a:pt x="511132" y="2802158"/>
                    <a:pt x="474487" y="2765513"/>
                  </a:cubicBezTo>
                  <a:cubicBezTo>
                    <a:pt x="437842" y="2728868"/>
                    <a:pt x="402944" y="2690475"/>
                    <a:pt x="369929" y="2650471"/>
                  </a:cubicBezTo>
                  <a:cubicBezTo>
                    <a:pt x="336915" y="2610466"/>
                    <a:pt x="305783" y="2568850"/>
                    <a:pt x="276671" y="2525758"/>
                  </a:cubicBezTo>
                  <a:cubicBezTo>
                    <a:pt x="247558" y="2482665"/>
                    <a:pt x="220464" y="2438097"/>
                    <a:pt x="195525" y="2392188"/>
                  </a:cubicBezTo>
                  <a:cubicBezTo>
                    <a:pt x="170586" y="2346280"/>
                    <a:pt x="147802" y="2299031"/>
                    <a:pt x="127308" y="2250577"/>
                  </a:cubicBezTo>
                  <a:cubicBezTo>
                    <a:pt x="106814" y="2202124"/>
                    <a:pt x="88610" y="2152466"/>
                    <a:pt x="72832" y="2101739"/>
                  </a:cubicBezTo>
                  <a:cubicBezTo>
                    <a:pt x="57054" y="2051012"/>
                    <a:pt x="43703" y="1999216"/>
                    <a:pt x="32913" y="1946487"/>
                  </a:cubicBezTo>
                  <a:cubicBezTo>
                    <a:pt x="22123" y="1893758"/>
                    <a:pt x="13895" y="1840095"/>
                    <a:pt x="8364" y="1785636"/>
                  </a:cubicBezTo>
                  <a:cubicBezTo>
                    <a:pt x="2833" y="1731176"/>
                    <a:pt x="0" y="1675919"/>
                    <a:pt x="0" y="1620000"/>
                  </a:cubicBezTo>
                  <a:cubicBezTo>
                    <a:pt x="0" y="1508163"/>
                    <a:pt x="11333" y="1398972"/>
                    <a:pt x="32913" y="1293514"/>
                  </a:cubicBezTo>
                  <a:cubicBezTo>
                    <a:pt x="43703" y="1240785"/>
                    <a:pt x="57054" y="1188989"/>
                    <a:pt x="72832" y="1138262"/>
                  </a:cubicBezTo>
                  <a:cubicBezTo>
                    <a:pt x="88610" y="1087535"/>
                    <a:pt x="106814" y="1037877"/>
                    <a:pt x="127308" y="989423"/>
                  </a:cubicBezTo>
                  <a:cubicBezTo>
                    <a:pt x="147802" y="940970"/>
                    <a:pt x="170586" y="893721"/>
                    <a:pt x="195525" y="847812"/>
                  </a:cubicBezTo>
                  <a:cubicBezTo>
                    <a:pt x="220464" y="801904"/>
                    <a:pt x="247558" y="757335"/>
                    <a:pt x="276671" y="714243"/>
                  </a:cubicBezTo>
                  <a:cubicBezTo>
                    <a:pt x="305783" y="671151"/>
                    <a:pt x="336915" y="629534"/>
                    <a:pt x="369929" y="589530"/>
                  </a:cubicBezTo>
                  <a:cubicBezTo>
                    <a:pt x="402944" y="549525"/>
                    <a:pt x="437842" y="511133"/>
                    <a:pt x="474487" y="474487"/>
                  </a:cubicBezTo>
                  <a:cubicBezTo>
                    <a:pt x="511132" y="437842"/>
                    <a:pt x="549525" y="402944"/>
                    <a:pt x="589530" y="369929"/>
                  </a:cubicBezTo>
                  <a:cubicBezTo>
                    <a:pt x="629534" y="336915"/>
                    <a:pt x="671151" y="305783"/>
                    <a:pt x="714243" y="276671"/>
                  </a:cubicBezTo>
                  <a:cubicBezTo>
                    <a:pt x="757335" y="247558"/>
                    <a:pt x="801903" y="220465"/>
                    <a:pt x="847812" y="195525"/>
                  </a:cubicBezTo>
                  <a:cubicBezTo>
                    <a:pt x="893721" y="170586"/>
                    <a:pt x="940970" y="147802"/>
                    <a:pt x="989423" y="127308"/>
                  </a:cubicBezTo>
                  <a:cubicBezTo>
                    <a:pt x="1037877" y="106814"/>
                    <a:pt x="1087535" y="88610"/>
                    <a:pt x="1138262" y="72832"/>
                  </a:cubicBezTo>
                  <a:cubicBezTo>
                    <a:pt x="1188989" y="57054"/>
                    <a:pt x="1240785" y="43703"/>
                    <a:pt x="1293514" y="32913"/>
                  </a:cubicBezTo>
                  <a:cubicBezTo>
                    <a:pt x="1346243" y="22123"/>
                    <a:pt x="1399905" y="13895"/>
                    <a:pt x="1454365" y="8364"/>
                  </a:cubicBezTo>
                  <a:cubicBezTo>
                    <a:pt x="1508824" y="2833"/>
                    <a:pt x="1564081" y="0"/>
                    <a:pt x="16200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86FDE679-8F9E-426F-AFCF-80BC16291647}"/>
              </a:ext>
            </a:extLst>
          </p:cNvPr>
          <p:cNvSpPr txBox="1"/>
          <p:nvPr/>
        </p:nvSpPr>
        <p:spPr>
          <a:xfrm>
            <a:off x="2419315" y="2810177"/>
            <a:ext cx="8541315" cy="145323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US" altLang="ko-KR" dirty="0">
                <a:solidFill>
                  <a:schemeClr val="bg1"/>
                </a:solidFill>
              </a:rPr>
              <a:t>Timely diagnosis is crucial for improving outcomes and reducing healthcare costs, yet traditional diagnostic methods are often inaccessible or expensive, especially in low-resource settings.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A35601-08F6-4CC1-86F9-49EA91A2379C}"/>
              </a:ext>
            </a:extLst>
          </p:cNvPr>
          <p:cNvSpPr txBox="1"/>
          <p:nvPr/>
        </p:nvSpPr>
        <p:spPr>
          <a:xfrm>
            <a:off x="2419315" y="4201793"/>
            <a:ext cx="8541315" cy="145323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US" altLang="ko-KR" dirty="0">
                <a:solidFill>
                  <a:schemeClr val="bg1"/>
                </a:solidFill>
              </a:rPr>
              <a:t>Big data and machine learning offer promising tools for analyzing large datasets to predict heart disease risk factors, but these methods face practical application challenges in real-world settings.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94AC945-CAEA-4AE0-A8F4-86CFD5FE07E0}"/>
              </a:ext>
            </a:extLst>
          </p:cNvPr>
          <p:cNvSpPr txBox="1"/>
          <p:nvPr/>
        </p:nvSpPr>
        <p:spPr>
          <a:xfrm>
            <a:off x="2475202" y="5593409"/>
            <a:ext cx="8541315" cy="145323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US" altLang="ko-KR" dirty="0">
                <a:solidFill>
                  <a:schemeClr val="bg1"/>
                </a:solidFill>
              </a:rPr>
              <a:t>Existing models often lack applicability to diverse populations, which limits their effectiveness.</a:t>
            </a:r>
          </a:p>
        </p:txBody>
      </p:sp>
    </p:spTree>
    <p:extLst>
      <p:ext uri="{BB962C8B-B14F-4D97-AF65-F5344CB8AC3E}">
        <p14:creationId xmlns:p14="http://schemas.microsoft.com/office/powerpoint/2010/main" val="18604052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comb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A70F514-A832-4458-BDDD-9B7797AE61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9" y="339509"/>
            <a:ext cx="11573197" cy="1379122"/>
          </a:xfrm>
        </p:spPr>
        <p:txBody>
          <a:bodyPr/>
          <a:lstStyle/>
          <a:p>
            <a:r>
              <a:rPr lang="en-US" sz="4600" dirty="0">
                <a:solidFill>
                  <a:schemeClr val="accent2"/>
                </a:solidFill>
              </a:rPr>
              <a:t>Literature Review</a:t>
            </a: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BF556ED4-9630-4BEB-AB42-0EE160FB37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432281"/>
              </p:ext>
            </p:extLst>
          </p:nvPr>
        </p:nvGraphicFramePr>
        <p:xfrm>
          <a:off x="584904" y="2376005"/>
          <a:ext cx="11050446" cy="366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4124">
                  <a:extLst>
                    <a:ext uri="{9D8B030D-6E8A-4147-A177-3AD203B41FA5}">
                      <a16:colId xmlns:a16="http://schemas.microsoft.com/office/drawing/2014/main" val="1879722257"/>
                    </a:ext>
                  </a:extLst>
                </a:gridCol>
                <a:gridCol w="4863161">
                  <a:extLst>
                    <a:ext uri="{9D8B030D-6E8A-4147-A177-3AD203B41FA5}">
                      <a16:colId xmlns:a16="http://schemas.microsoft.com/office/drawing/2014/main" val="966667852"/>
                    </a:ext>
                  </a:extLst>
                </a:gridCol>
                <a:gridCol w="4863161">
                  <a:extLst>
                    <a:ext uri="{9D8B030D-6E8A-4147-A177-3AD203B41FA5}">
                      <a16:colId xmlns:a16="http://schemas.microsoft.com/office/drawing/2014/main" val="4346842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Study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Prediction Using Jellyfish Optimization Algorithm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Effective Heart Disease Prediction Using Machine Learning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8993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Focus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Utilized machine learning with the Jellyfish optimization algorithm to address overfitting and select key features for heart disease prediction.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Aimed to enhance cardiovascular disease prediction using k-modes clustering and machine learning algorithms, including RF, DT, MP, and XGB.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6069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Dataset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Cleveland heart disease dataset.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70,000 instances from Kaggle.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8276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Findings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SVM classifier combined with Jellyfish optimization achieved the best results (98.47% accuracy and 94.48% AUC), demonstrating effectiveness in dimensionality reduction and prediction accuracy.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Multilayer Perceptron with cross-validation outperformed others, achieving 87.28% accuracy and 0.95 AUC.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6846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2957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comb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A70F514-A832-4458-BDDD-9B7797AE61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9" y="339509"/>
            <a:ext cx="11573197" cy="1379122"/>
          </a:xfrm>
        </p:spPr>
        <p:txBody>
          <a:bodyPr/>
          <a:lstStyle/>
          <a:p>
            <a:r>
              <a:rPr lang="en-US" sz="4600" dirty="0">
                <a:solidFill>
                  <a:schemeClr val="accent2"/>
                </a:solidFill>
              </a:rPr>
              <a:t>Literature Review</a:t>
            </a: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BF556ED4-9630-4BEB-AB42-0EE160FB37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323081"/>
              </p:ext>
            </p:extLst>
          </p:nvPr>
        </p:nvGraphicFramePr>
        <p:xfrm>
          <a:off x="584904" y="2376005"/>
          <a:ext cx="11050446" cy="366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4124">
                  <a:extLst>
                    <a:ext uri="{9D8B030D-6E8A-4147-A177-3AD203B41FA5}">
                      <a16:colId xmlns:a16="http://schemas.microsoft.com/office/drawing/2014/main" val="1879722257"/>
                    </a:ext>
                  </a:extLst>
                </a:gridCol>
                <a:gridCol w="4863161">
                  <a:extLst>
                    <a:ext uri="{9D8B030D-6E8A-4147-A177-3AD203B41FA5}">
                      <a16:colId xmlns:a16="http://schemas.microsoft.com/office/drawing/2014/main" val="966667852"/>
                    </a:ext>
                  </a:extLst>
                </a:gridCol>
                <a:gridCol w="4863161">
                  <a:extLst>
                    <a:ext uri="{9D8B030D-6E8A-4147-A177-3AD203B41FA5}">
                      <a16:colId xmlns:a16="http://schemas.microsoft.com/office/drawing/2014/main" val="4346842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Study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Explainable AI for Heart Disease Prediction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Active Learning Machine Techniques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8993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Focus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Developed a predictive system integrating feature selection (chi-square, ANOVA) with SHAP methods for interpretability and built a mobile application.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Employed neural networks and Learning Vector Quantization to develop robust models for heart disease prediction.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6069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Dataset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UCI-repository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8276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Findings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XGBoost</a:t>
                      </a:r>
                      <a:r>
                        <a:rPr lang="en-US" dirty="0"/>
                        <a:t> using selected features achieved 97.57% accuracy and 98% AUC, showcasing high prediction effectiveness and practical application for early detection.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Learning Vector Quantization achieved the highest accuracy (98.7%), highlighting its potential for cardiovascular problem prediction. Naïve Bayes and Radial Basis Functions also performed well with 94.78% and 90.78% accuracy, respectively.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6846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45905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comb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D9D20-B4BB-42AA-8DDD-68CC9F1D95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Classification Algorithms in Machine Learning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DBBC68-39A9-4472-9014-3FCC5B1FEE9B}"/>
              </a:ext>
            </a:extLst>
          </p:cNvPr>
          <p:cNvSpPr/>
          <p:nvPr/>
        </p:nvSpPr>
        <p:spPr>
          <a:xfrm>
            <a:off x="3187547" y="4274545"/>
            <a:ext cx="5816906" cy="55348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73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B250192-A69B-C177-BB4C-EC785527DA1F}"/>
              </a:ext>
            </a:extLst>
          </p:cNvPr>
          <p:cNvSpPr txBox="1"/>
          <p:nvPr/>
        </p:nvSpPr>
        <p:spPr>
          <a:xfrm>
            <a:off x="1171461" y="1467114"/>
            <a:ext cx="10087778" cy="49116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chemeClr val="bg1"/>
                </a:solidFill>
              </a:rPr>
              <a:t>Description: </a:t>
            </a:r>
            <a:r>
              <a:rPr lang="en-US" altLang="ko-KR" dirty="0">
                <a:solidFill>
                  <a:schemeClr val="bg1"/>
                </a:solidFill>
              </a:rPr>
              <a:t>An ensemble method combining outputs of multiple decision trees to enhance prediction accuracy.</a:t>
            </a:r>
          </a:p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chemeClr val="bg1"/>
                </a:solidFill>
              </a:rPr>
              <a:t>Key Features:</a:t>
            </a:r>
          </a:p>
          <a:p>
            <a:pPr marL="742950" lvl="1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bg1"/>
                </a:solidFill>
              </a:rPr>
              <a:t>Uses bagging and feature randomness for uncorrelated trees.</a:t>
            </a:r>
          </a:p>
          <a:p>
            <a:pPr marL="742950" lvl="1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bg1"/>
                </a:solidFill>
              </a:rPr>
              <a:t>Parameters include node size, number of trees, and sampled features.</a:t>
            </a:r>
          </a:p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chemeClr val="bg1"/>
                </a:solidFill>
              </a:rPr>
              <a:t>Applications: </a:t>
            </a:r>
            <a:r>
              <a:rPr lang="en-US" altLang="ko-KR" dirty="0">
                <a:solidFill>
                  <a:schemeClr val="bg1"/>
                </a:solidFill>
              </a:rPr>
              <a:t>Finance, healthcare, e-commerce.</a:t>
            </a:r>
          </a:p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chemeClr val="bg1"/>
                </a:solidFill>
              </a:rPr>
              <a:t>Benefits: </a:t>
            </a:r>
          </a:p>
          <a:p>
            <a:pPr marL="742950" lvl="1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bg1"/>
                </a:solidFill>
              </a:rPr>
              <a:t>Flexibility</a:t>
            </a:r>
          </a:p>
          <a:p>
            <a:pPr marL="742950" lvl="1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bg1"/>
                </a:solidFill>
              </a:rPr>
              <a:t>Reduced overfitting risk</a:t>
            </a:r>
          </a:p>
          <a:p>
            <a:pPr marL="742950" lvl="1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bg1"/>
                </a:solidFill>
              </a:rPr>
              <a:t>Ease of determining feature importance.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A70F514-A832-4458-BDDD-9B7797AE61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Random Forest</a:t>
            </a:r>
          </a:p>
        </p:txBody>
      </p:sp>
      <p:pic>
        <p:nvPicPr>
          <p:cNvPr id="1026" name="Picture 2" descr="Random forest line icon. Decision trees symbol. Machine ...">
            <a:extLst>
              <a:ext uri="{FF2B5EF4-FFF2-40B4-BE49-F238E27FC236}">
                <a16:creationId xmlns:a16="http://schemas.microsoft.com/office/drawing/2014/main" id="{D8B3EE8D-88D9-413B-9CF6-A48A3EC078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19100" y1="22202" x2="19200" y2="23979"/>
                        <a14:foregroundMark x1="50000" y1="30906" x2="50100" y2="35346"/>
                        <a14:foregroundMark x1="79500" y1="39432" x2="79700" y2="41385"/>
                        <a14:foregroundMark x1="80700" y1="68206" x2="80700" y2="70693"/>
                        <a14:foregroundMark x1="53200" y1="75133" x2="54400" y2="75133"/>
                        <a14:foregroundMark x1="50000" y1="66607" x2="50000" y2="68206"/>
                        <a14:foregroundMark x1="37500" y1="78330" x2="35900" y2="78330"/>
                        <a14:foregroundMark x1="19400" y1="44405" x2="19400" y2="48135"/>
                      </a14:backgroundRemoval>
                    </a14:imgEffect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35" t="14607" r="6148" b="14048"/>
          <a:stretch/>
        </p:blipFill>
        <p:spPr bwMode="auto">
          <a:xfrm>
            <a:off x="7346314" y="4494882"/>
            <a:ext cx="4429226" cy="2023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60301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comb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B250192-A69B-C177-BB4C-EC785527DA1F}"/>
              </a:ext>
            </a:extLst>
          </p:cNvPr>
          <p:cNvSpPr txBox="1"/>
          <p:nvPr/>
        </p:nvSpPr>
        <p:spPr>
          <a:xfrm>
            <a:off x="929086" y="1360584"/>
            <a:ext cx="10473372" cy="133303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chemeClr val="bg1"/>
                </a:solidFill>
              </a:rPr>
              <a:t>Description: </a:t>
            </a:r>
            <a:r>
              <a:rPr lang="en-US" altLang="ko-KR" dirty="0">
                <a:solidFill>
                  <a:schemeClr val="bg1"/>
                </a:solidFill>
              </a:rPr>
              <a:t>An advanced gradient boosting technique that builds sequential models to minimize prediction errors using gradient descent.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A70F514-A832-4458-BDDD-9B7797AE61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9" y="339510"/>
            <a:ext cx="11573197" cy="927430"/>
          </a:xfrm>
        </p:spPr>
        <p:txBody>
          <a:bodyPr/>
          <a:lstStyle/>
          <a:p>
            <a:r>
              <a:rPr lang="en-US" dirty="0" err="1">
                <a:solidFill>
                  <a:schemeClr val="accent1"/>
                </a:solidFill>
              </a:rPr>
              <a:t>XGBoost</a:t>
            </a:r>
            <a:r>
              <a:rPr lang="en-US" dirty="0">
                <a:solidFill>
                  <a:schemeClr val="accent1"/>
                </a:solidFill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200DF7-55C7-4620-A3B7-44D0BD04D60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290630" y="2787267"/>
            <a:ext cx="5713095" cy="35058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892A9C-FD7D-4125-AFD5-D431EA5CE36D}"/>
              </a:ext>
            </a:extLst>
          </p:cNvPr>
          <p:cNvSpPr txBox="1"/>
          <p:nvPr/>
        </p:nvSpPr>
        <p:spPr>
          <a:xfrm>
            <a:off x="929085" y="2181341"/>
            <a:ext cx="5361545" cy="49245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chemeClr val="bg1"/>
                </a:solidFill>
              </a:rPr>
              <a:t>How It Works:</a:t>
            </a:r>
          </a:p>
          <a:p>
            <a:pPr marL="742950" lvl="1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/>
                </a:solidFill>
              </a:rPr>
              <a:t>Initialize predictions (e.g., mean values).</a:t>
            </a:r>
          </a:p>
          <a:p>
            <a:pPr marL="742950" lvl="1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/>
                </a:solidFill>
              </a:rPr>
              <a:t>Train trees iteratively to reduce residuals.</a:t>
            </a:r>
          </a:p>
          <a:p>
            <a:pPr marL="742950" lvl="1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/>
                </a:solidFill>
              </a:rPr>
              <a:t>Combine all trees for the final prediction.</a:t>
            </a:r>
          </a:p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chemeClr val="bg1"/>
                </a:solidFill>
              </a:rPr>
              <a:t>Applications: </a:t>
            </a:r>
            <a:r>
              <a:rPr lang="en-US" altLang="ko-KR" dirty="0">
                <a:solidFill>
                  <a:schemeClr val="bg1"/>
                </a:solidFill>
              </a:rPr>
              <a:t>Healthcare diagnostics, financial risk assessment, customer churn prediction.</a:t>
            </a:r>
          </a:p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chemeClr val="bg1"/>
                </a:solidFill>
              </a:rPr>
              <a:t>Challenges: </a:t>
            </a:r>
            <a:r>
              <a:rPr lang="en-US" altLang="ko-KR" dirty="0">
                <a:solidFill>
                  <a:schemeClr val="bg1"/>
                </a:solidFill>
              </a:rPr>
              <a:t>Overfitting, scalability issues for large datasets.</a:t>
            </a:r>
          </a:p>
        </p:txBody>
      </p:sp>
    </p:spTree>
    <p:extLst>
      <p:ext uri="{BB962C8B-B14F-4D97-AF65-F5344CB8AC3E}">
        <p14:creationId xmlns:p14="http://schemas.microsoft.com/office/powerpoint/2010/main" val="8287067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comb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B250192-A69B-C177-BB4C-EC785527DA1F}"/>
              </a:ext>
            </a:extLst>
          </p:cNvPr>
          <p:cNvSpPr txBox="1"/>
          <p:nvPr/>
        </p:nvSpPr>
        <p:spPr>
          <a:xfrm>
            <a:off x="929086" y="1536853"/>
            <a:ext cx="10087781" cy="478682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chemeClr val="bg1"/>
                </a:solidFill>
              </a:rPr>
              <a:t>Description: </a:t>
            </a:r>
            <a:r>
              <a:rPr lang="en-US" altLang="ko-KR" dirty="0">
                <a:solidFill>
                  <a:schemeClr val="bg1"/>
                </a:solidFill>
              </a:rPr>
              <a:t>A statistical method used for binary and multi-class classification by modeling probabilities.</a:t>
            </a:r>
          </a:p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chemeClr val="bg1"/>
                </a:solidFill>
              </a:rPr>
              <a:t>Types:</a:t>
            </a:r>
          </a:p>
          <a:p>
            <a:pPr marL="742950" lvl="1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bg1"/>
                </a:solidFill>
              </a:rPr>
              <a:t>Binomial (e.g., pass/fail).</a:t>
            </a:r>
          </a:p>
          <a:p>
            <a:pPr marL="742950" lvl="1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bg1"/>
                </a:solidFill>
              </a:rPr>
              <a:t>Multinomial (e.g., dog/cat/sheep).</a:t>
            </a:r>
          </a:p>
          <a:p>
            <a:pPr marL="742950" lvl="1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bg1"/>
                </a:solidFill>
              </a:rPr>
              <a:t>Ordinal (e.g., low/medium/high).</a:t>
            </a:r>
          </a:p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chemeClr val="bg1"/>
                </a:solidFill>
              </a:rPr>
              <a:t>Applications: </a:t>
            </a:r>
          </a:p>
          <a:p>
            <a:pPr marL="742950" lvl="1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bg1"/>
                </a:solidFill>
              </a:rPr>
              <a:t>Healthcare (disease prediction).</a:t>
            </a:r>
          </a:p>
          <a:p>
            <a:pPr marL="742950" lvl="1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bg1"/>
                </a:solidFill>
              </a:rPr>
              <a:t>Finance (fraud detection, loan evaluations).</a:t>
            </a:r>
          </a:p>
          <a:p>
            <a:pPr marL="742950" lvl="1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bg1"/>
                </a:solidFill>
              </a:rPr>
              <a:t>Marketing (ad response predictions).</a:t>
            </a:r>
          </a:p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chemeClr val="bg1"/>
                </a:solidFill>
              </a:rPr>
              <a:t>Advantages: </a:t>
            </a:r>
            <a:r>
              <a:rPr lang="en-US" altLang="ko-KR" dirty="0">
                <a:solidFill>
                  <a:schemeClr val="bg1"/>
                </a:solidFill>
              </a:rPr>
              <a:t>Simplicity, speed, and flexibility.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A70F514-A832-4458-BDDD-9B7797AE61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9" y="339510"/>
            <a:ext cx="11573197" cy="92743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Logistic Regression </a:t>
            </a:r>
          </a:p>
        </p:txBody>
      </p:sp>
      <p:pic>
        <p:nvPicPr>
          <p:cNvPr id="2050" name="Picture 2" descr="82 Logistic Regression Images, Stock Photos, and Vectors | Shutterstock">
            <a:extLst>
              <a:ext uri="{FF2B5EF4-FFF2-40B4-BE49-F238E27FC236}">
                <a16:creationId xmlns:a16="http://schemas.microsoft.com/office/drawing/2014/main" id="{869EA37E-0151-4949-BC52-0B4BDA7FCF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15"/>
          <a:stretch/>
        </p:blipFill>
        <p:spPr bwMode="auto">
          <a:xfrm>
            <a:off x="7645018" y="2624309"/>
            <a:ext cx="3493036" cy="3479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18041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comb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B250192-A69B-C177-BB4C-EC785527DA1F}"/>
              </a:ext>
            </a:extLst>
          </p:cNvPr>
          <p:cNvSpPr txBox="1"/>
          <p:nvPr/>
        </p:nvSpPr>
        <p:spPr>
          <a:xfrm>
            <a:off x="929086" y="1536853"/>
            <a:ext cx="10087781" cy="9419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chemeClr val="bg1"/>
                </a:solidFill>
              </a:rPr>
              <a:t>Description: </a:t>
            </a:r>
            <a:r>
              <a:rPr lang="en-US" altLang="ko-KR" dirty="0">
                <a:solidFill>
                  <a:schemeClr val="bg1"/>
                </a:solidFill>
              </a:rPr>
              <a:t>A supervised algorithm that identifies a hyperplane to separate data into classes with the widest possible margin.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A70F514-A832-4458-BDDD-9B7797AE61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9" y="339510"/>
            <a:ext cx="11573197" cy="92743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Support Vector Machine (SVM)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3D38EF-6F24-477B-A8D0-ED2B1F5959C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966505" y="2528372"/>
            <a:ext cx="4222788" cy="34924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FE53A3-BEDD-41F4-AC1F-9256B953C50E}"/>
              </a:ext>
            </a:extLst>
          </p:cNvPr>
          <p:cNvSpPr txBox="1"/>
          <p:nvPr/>
        </p:nvSpPr>
        <p:spPr>
          <a:xfrm>
            <a:off x="929087" y="2478780"/>
            <a:ext cx="6209843" cy="354200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chemeClr val="bg1"/>
                </a:solidFill>
              </a:rPr>
              <a:t>Features:</a:t>
            </a:r>
          </a:p>
          <a:p>
            <a:pPr marL="742950" lvl="1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/>
                </a:solidFill>
              </a:rPr>
              <a:t>Support vectors determine the hyperplane.</a:t>
            </a:r>
          </a:p>
          <a:p>
            <a:pPr marL="742950" lvl="1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/>
                </a:solidFill>
              </a:rPr>
              <a:t>Kernel methods handle non-linear separations.</a:t>
            </a:r>
          </a:p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chemeClr val="bg1"/>
                </a:solidFill>
              </a:rPr>
              <a:t>Advantages: </a:t>
            </a:r>
            <a:r>
              <a:rPr lang="en-US" altLang="ko-KR" dirty="0">
                <a:solidFill>
                  <a:schemeClr val="bg1"/>
                </a:solidFill>
              </a:rPr>
              <a:t>High accuracy, efficiency with smaller datasets.</a:t>
            </a:r>
          </a:p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chemeClr val="bg1"/>
                </a:solidFill>
              </a:rPr>
              <a:t>Challenges: </a:t>
            </a:r>
            <a:r>
              <a:rPr lang="en-US" altLang="ko-KR" dirty="0">
                <a:solidFill>
                  <a:schemeClr val="bg1"/>
                </a:solidFill>
              </a:rPr>
              <a:t>Computationally expensive for large datasets and less effective with noise.</a:t>
            </a:r>
          </a:p>
        </p:txBody>
      </p:sp>
    </p:spTree>
    <p:extLst>
      <p:ext uri="{BB962C8B-B14F-4D97-AF65-F5344CB8AC3E}">
        <p14:creationId xmlns:p14="http://schemas.microsoft.com/office/powerpoint/2010/main" val="40774899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comb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A70F514-A832-4458-BDDD-9B7797AE61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9" y="339510"/>
            <a:ext cx="11573197" cy="927430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Machine Learning </a:t>
            </a:r>
            <a:r>
              <a:rPr lang="en-US" dirty="0">
                <a:solidFill>
                  <a:schemeClr val="bg1"/>
                </a:solidFill>
              </a:rPr>
              <a:t>Process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86BD6C-D193-4257-A3C1-E065BBE3F3F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41398" y="1664855"/>
            <a:ext cx="9909203" cy="4570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5692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comb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D9D20-B4BB-42AA-8DDD-68CC9F1D95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Performance Metrics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DBBC68-39A9-4472-9014-3FCC5B1FEE9B}"/>
              </a:ext>
            </a:extLst>
          </p:cNvPr>
          <p:cNvSpPr/>
          <p:nvPr/>
        </p:nvSpPr>
        <p:spPr>
          <a:xfrm>
            <a:off x="3187547" y="4274545"/>
            <a:ext cx="5816906" cy="55348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6209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A70F514-A832-4458-BDDD-9B7797AE61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9" y="339510"/>
            <a:ext cx="11573197" cy="927430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Confusion Matrix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5CC328-35F8-4A48-B159-67708CB5C96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881517" y="3191773"/>
            <a:ext cx="6015209" cy="34434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250192-A69B-C177-BB4C-EC785527DA1F}"/>
              </a:ext>
            </a:extLst>
          </p:cNvPr>
          <p:cNvSpPr txBox="1"/>
          <p:nvPr/>
        </p:nvSpPr>
        <p:spPr>
          <a:xfrm>
            <a:off x="771179" y="1669054"/>
            <a:ext cx="6422835" cy="38944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US" altLang="ko-KR" dirty="0">
                <a:solidFill>
                  <a:schemeClr val="bg1"/>
                </a:solidFill>
              </a:rPr>
              <a:t>A table summarizing prediction outcomes:</a:t>
            </a:r>
          </a:p>
          <a:p>
            <a:pPr marL="742950" lvl="1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chemeClr val="bg1"/>
                </a:solidFill>
              </a:rPr>
              <a:t>True Positive (TP): </a:t>
            </a:r>
            <a:r>
              <a:rPr lang="en-US" altLang="ko-KR" dirty="0">
                <a:solidFill>
                  <a:schemeClr val="bg1"/>
                </a:solidFill>
              </a:rPr>
              <a:t>Correctly predicted positives.</a:t>
            </a:r>
          </a:p>
          <a:p>
            <a:pPr marL="742950" lvl="1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chemeClr val="bg1"/>
                </a:solidFill>
              </a:rPr>
              <a:t>True Negative (TN): </a:t>
            </a:r>
            <a:r>
              <a:rPr lang="en-US" altLang="ko-KR" dirty="0">
                <a:solidFill>
                  <a:schemeClr val="bg1"/>
                </a:solidFill>
              </a:rPr>
              <a:t>Correctly predicted negatives.</a:t>
            </a:r>
          </a:p>
          <a:p>
            <a:pPr marL="742950" lvl="1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chemeClr val="bg1"/>
                </a:solidFill>
              </a:rPr>
              <a:t>False Positive (FP): </a:t>
            </a:r>
            <a:r>
              <a:rPr lang="en-US" altLang="ko-KR" dirty="0">
                <a:solidFill>
                  <a:schemeClr val="bg1"/>
                </a:solidFill>
              </a:rPr>
              <a:t>Incorrectly predicted positives.</a:t>
            </a:r>
          </a:p>
          <a:p>
            <a:pPr marL="742950" lvl="1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chemeClr val="bg1"/>
                </a:solidFill>
              </a:rPr>
              <a:t>False Negative (FN): </a:t>
            </a:r>
            <a:r>
              <a:rPr lang="en-US" altLang="ko-KR" dirty="0">
                <a:solidFill>
                  <a:schemeClr val="bg1"/>
                </a:solidFill>
              </a:rPr>
              <a:t>Incorrectly predicted negatives.</a:t>
            </a:r>
          </a:p>
        </p:txBody>
      </p:sp>
    </p:spTree>
    <p:extLst>
      <p:ext uri="{BB962C8B-B14F-4D97-AF65-F5344CB8AC3E}">
        <p14:creationId xmlns:p14="http://schemas.microsoft.com/office/powerpoint/2010/main" val="10753807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comb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A70F514-A832-4458-BDDD-9B7797AE61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9" y="339510"/>
            <a:ext cx="11573197" cy="927430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Performance Metrics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B250192-A69B-C177-BB4C-EC785527DA1F}"/>
                  </a:ext>
                </a:extLst>
              </p:cNvPr>
              <p:cNvSpPr txBox="1"/>
              <p:nvPr/>
            </p:nvSpPr>
            <p:spPr>
              <a:xfrm>
                <a:off x="652481" y="2445748"/>
                <a:ext cx="5166913" cy="1525838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/>
              <a:p>
                <a:pPr algn="ctr">
                  <a:lnSpc>
                    <a:spcPct val="150000"/>
                  </a:lnSpc>
                  <a:spcAft>
                    <a:spcPts val="1000"/>
                  </a:spcAft>
                </a:pPr>
                <a:r>
                  <a:rPr lang="en-US" altLang="ko-KR" dirty="0">
                    <a:solidFill>
                      <a:schemeClr val="bg1"/>
                    </a:solidFill>
                  </a:rPr>
                  <a:t>Ratio of correct predictions to total predictions.</a:t>
                </a:r>
              </a:p>
              <a:p>
                <a:pPr>
                  <a:lnSpc>
                    <a:spcPct val="150000"/>
                  </a:lnSpc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solidFill>
                            <a:schemeClr val="bg1"/>
                          </a:solidFill>
                        </a:rPr>
                        <m:t>𝐴𝑐𝑐𝑢𝑟𝑎𝑐𝑦</m:t>
                      </m:r>
                      <m:r>
                        <a:rPr lang="en-US" sz="1600" i="1" smtClean="0">
                          <a:solidFill>
                            <a:schemeClr val="bg1"/>
                          </a:solidFill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</a:rPr>
                          </m:ctrlPr>
                        </m:fPr>
                        <m:num>
                          <m:r>
                            <a:rPr lang="en-US" sz="1600" i="1">
                              <a:solidFill>
                                <a:schemeClr val="bg1"/>
                              </a:solidFill>
                            </a:rPr>
                            <m:t>𝑁𝑢𝑚𝑏𝑒𝑟</m:t>
                          </m:r>
                          <m:r>
                            <a:rPr lang="en-US" sz="1600" i="1">
                              <a:solidFill>
                                <a:schemeClr val="bg1"/>
                              </a:solidFill>
                            </a:rPr>
                            <m:t> </m:t>
                          </m:r>
                          <m:r>
                            <a:rPr lang="en-US" sz="1600" i="1">
                              <a:solidFill>
                                <a:schemeClr val="bg1"/>
                              </a:solidFill>
                            </a:rPr>
                            <m:t>𝑜𝑓</m:t>
                          </m:r>
                          <m:r>
                            <a:rPr lang="en-US" sz="1600" i="1">
                              <a:solidFill>
                                <a:schemeClr val="bg1"/>
                              </a:solidFill>
                            </a:rPr>
                            <m:t> </m:t>
                          </m:r>
                          <m:r>
                            <a:rPr lang="en-US" sz="1600" i="1">
                              <a:solidFill>
                                <a:schemeClr val="bg1"/>
                              </a:solidFill>
                            </a:rPr>
                            <m:t>𝐶𝑜𝑟𝑟𝑒𝑐𝑡</m:t>
                          </m:r>
                          <m:r>
                            <a:rPr lang="en-US" sz="1600" i="1">
                              <a:solidFill>
                                <a:schemeClr val="bg1"/>
                              </a:solidFill>
                            </a:rPr>
                            <m:t> </m:t>
                          </m:r>
                          <m:r>
                            <a:rPr lang="en-US" sz="1600" i="1">
                              <a:solidFill>
                                <a:schemeClr val="bg1"/>
                              </a:solidFill>
                            </a:rPr>
                            <m:t>𝑃𝑟𝑒𝑑𝑖𝑐𝑡𝑖𝑜𝑛𝑠</m:t>
                          </m:r>
                        </m:num>
                        <m:den>
                          <m:r>
                            <a:rPr lang="en-US" sz="1600" i="1">
                              <a:solidFill>
                                <a:schemeClr val="bg1"/>
                              </a:solidFill>
                            </a:rPr>
                            <m:t>𝑇𝑜𝑡𝑎𝑙</m:t>
                          </m:r>
                          <m:r>
                            <a:rPr lang="en-US" sz="1600" i="1">
                              <a:solidFill>
                                <a:schemeClr val="bg1"/>
                              </a:solidFill>
                            </a:rPr>
                            <m:t> </m:t>
                          </m:r>
                          <m:r>
                            <a:rPr lang="en-US" sz="1600" i="1">
                              <a:solidFill>
                                <a:schemeClr val="bg1"/>
                              </a:solidFill>
                            </a:rPr>
                            <m:t>𝑛𝑢𝑚𝑏𝑒𝑟</m:t>
                          </m:r>
                          <m:r>
                            <a:rPr lang="en-US" sz="1600" i="1">
                              <a:solidFill>
                                <a:schemeClr val="bg1"/>
                              </a:solidFill>
                            </a:rPr>
                            <m:t> </m:t>
                          </m:r>
                          <m:r>
                            <a:rPr lang="en-US" sz="1600" i="1">
                              <a:solidFill>
                                <a:schemeClr val="bg1"/>
                              </a:solidFill>
                            </a:rPr>
                            <m:t>𝑜𝑓</m:t>
                          </m:r>
                          <m:r>
                            <a:rPr lang="en-US" sz="1600" i="1">
                              <a:solidFill>
                                <a:schemeClr val="bg1"/>
                              </a:solidFill>
                            </a:rPr>
                            <m:t> </m:t>
                          </m:r>
                          <m:r>
                            <a:rPr lang="en-US" sz="1600" i="1">
                              <a:solidFill>
                                <a:schemeClr val="bg1"/>
                              </a:solidFill>
                            </a:rPr>
                            <m:t>𝑃𝑟𝑒𝑑𝑖𝑐𝑡𝑖𝑜𝑛𝑠</m:t>
                          </m:r>
                        </m:den>
                      </m:f>
                    </m:oMath>
                  </m:oMathPara>
                </a14:m>
                <a:endParaRPr lang="en-US" altLang="ko-KR" sz="16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B250192-A69B-C177-BB4C-EC785527DA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481" y="2445748"/>
                <a:ext cx="5166913" cy="15258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7">
            <a:extLst>
              <a:ext uri="{FF2B5EF4-FFF2-40B4-BE49-F238E27FC236}">
                <a16:creationId xmlns:a16="http://schemas.microsoft.com/office/drawing/2014/main" id="{59000BF3-7106-44B0-B127-77AE5D428CDD}"/>
              </a:ext>
            </a:extLst>
          </p:cNvPr>
          <p:cNvSpPr/>
          <p:nvPr/>
        </p:nvSpPr>
        <p:spPr>
          <a:xfrm>
            <a:off x="1856277" y="1718907"/>
            <a:ext cx="2759322" cy="58361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/>
              <a:t>Accuracy</a:t>
            </a:r>
            <a:endParaRPr lang="ko-KR" altLang="en-US" sz="2400" dirty="0"/>
          </a:p>
        </p:txBody>
      </p: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81728A3F-6A53-46A2-BD63-373D369D4D26}"/>
              </a:ext>
            </a:extLst>
          </p:cNvPr>
          <p:cNvSpPr/>
          <p:nvPr/>
        </p:nvSpPr>
        <p:spPr>
          <a:xfrm>
            <a:off x="7425367" y="1718907"/>
            <a:ext cx="2759322" cy="58361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/>
              <a:t>Precision</a:t>
            </a:r>
            <a:endParaRPr lang="ko-KR" altLang="en-US" sz="2400" dirty="0"/>
          </a:p>
        </p:txBody>
      </p:sp>
      <p:sp>
        <p:nvSpPr>
          <p:cNvPr id="9" name="Rounded Rectangle 7">
            <a:extLst>
              <a:ext uri="{FF2B5EF4-FFF2-40B4-BE49-F238E27FC236}">
                <a16:creationId xmlns:a16="http://schemas.microsoft.com/office/drawing/2014/main" id="{6CFFEFA3-5692-4419-987F-6D60B786FD65}"/>
              </a:ext>
            </a:extLst>
          </p:cNvPr>
          <p:cNvSpPr/>
          <p:nvPr/>
        </p:nvSpPr>
        <p:spPr>
          <a:xfrm>
            <a:off x="1856277" y="4412252"/>
            <a:ext cx="2759322" cy="58361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/>
              <a:t>Recall</a:t>
            </a:r>
            <a:endParaRPr lang="ko-KR" altLang="en-US" sz="2400" dirty="0"/>
          </a:p>
        </p:txBody>
      </p:sp>
      <p:sp>
        <p:nvSpPr>
          <p:cNvPr id="10" name="Rounded Rectangle 7">
            <a:extLst>
              <a:ext uri="{FF2B5EF4-FFF2-40B4-BE49-F238E27FC236}">
                <a16:creationId xmlns:a16="http://schemas.microsoft.com/office/drawing/2014/main" id="{25874861-7952-4A79-BAFB-714060B41A76}"/>
              </a:ext>
            </a:extLst>
          </p:cNvPr>
          <p:cNvSpPr/>
          <p:nvPr/>
        </p:nvSpPr>
        <p:spPr>
          <a:xfrm>
            <a:off x="7425367" y="4412253"/>
            <a:ext cx="2759322" cy="58361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/>
              <a:t>F1-Score</a:t>
            </a:r>
            <a:endParaRPr lang="ko-KR" alt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56494DB-CC07-49B8-B018-396D37B18165}"/>
                  </a:ext>
                </a:extLst>
              </p:cNvPr>
              <p:cNvSpPr txBox="1"/>
              <p:nvPr/>
            </p:nvSpPr>
            <p:spPr>
              <a:xfrm>
                <a:off x="6096000" y="2445748"/>
                <a:ext cx="5339508" cy="1525838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/>
              <a:p>
                <a:pPr algn="ctr">
                  <a:lnSpc>
                    <a:spcPct val="150000"/>
                  </a:lnSpc>
                  <a:spcAft>
                    <a:spcPts val="1000"/>
                  </a:spcAft>
                </a:pPr>
                <a:r>
                  <a:rPr lang="en-US" altLang="ko-KR" dirty="0">
                    <a:solidFill>
                      <a:schemeClr val="bg1"/>
                    </a:solidFill>
                  </a:rPr>
                  <a:t>Proportion of TPs predictions to total positive predictions.</a:t>
                </a:r>
                <a:endParaRPr lang="en-US" i="1" dirty="0">
                  <a:solidFill>
                    <a:schemeClr val="bg1"/>
                  </a:solidFill>
                </a:endParaRPr>
              </a:p>
              <a:p>
                <a:pPr algn="ctr">
                  <a:lnSpc>
                    <a:spcPct val="150000"/>
                  </a:lnSpc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𝑃𝑟𝑒𝑐𝑖𝑠𝑖𝑜𝑛</m:t>
                      </m:r>
                      <m:r>
                        <a:rPr lang="en-US" sz="1600" i="1" smtClean="0">
                          <a:solidFill>
                            <a:schemeClr val="bg1"/>
                          </a:solidFill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lang="en-US" altLang="ko-KR" sz="16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56494DB-CC07-49B8-B018-396D37B181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445748"/>
                <a:ext cx="5339508" cy="1525838"/>
              </a:xfrm>
              <a:prstGeom prst="rect">
                <a:avLst/>
              </a:prstGeom>
              <a:blipFill>
                <a:blip r:embed="rId3"/>
                <a:stretch>
                  <a:fillRect b="-67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D446726-BA9C-4F40-86A7-CBC47A03BD94}"/>
                  </a:ext>
                </a:extLst>
              </p:cNvPr>
              <p:cNvSpPr txBox="1"/>
              <p:nvPr/>
            </p:nvSpPr>
            <p:spPr>
              <a:xfrm>
                <a:off x="652480" y="5111847"/>
                <a:ext cx="5166913" cy="1525838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/>
              <a:p>
                <a:pPr algn="ctr">
                  <a:lnSpc>
                    <a:spcPct val="150000"/>
                  </a:lnSpc>
                  <a:spcAft>
                    <a:spcPts val="1000"/>
                  </a:spcAft>
                </a:pPr>
                <a:r>
                  <a:rPr lang="en-US" altLang="ko-KR" dirty="0">
                    <a:solidFill>
                      <a:schemeClr val="bg1"/>
                    </a:solidFill>
                  </a:rPr>
                  <a:t>Proportion of actual positives correctly identified.</a:t>
                </a:r>
              </a:p>
              <a:p>
                <a:pPr algn="ctr">
                  <a:lnSpc>
                    <a:spcPct val="150000"/>
                  </a:lnSpc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solidFill>
                            <a:schemeClr val="bg1"/>
                          </a:solidFill>
                        </a:rPr>
                        <m:t>𝑅𝑒𝑐𝑎𝑙𝑙</m:t>
                      </m:r>
                      <m:r>
                        <a:rPr lang="en-US" sz="1600" i="1" smtClean="0">
                          <a:solidFill>
                            <a:schemeClr val="bg1"/>
                          </a:solidFill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</a:rPr>
                          </m:ctrlPr>
                        </m:fPr>
                        <m:num>
                          <m:r>
                            <a:rPr lang="en-US" sz="1600" i="1">
                              <a:solidFill>
                                <a:schemeClr val="bg1"/>
                              </a:solidFill>
                            </a:rPr>
                            <m:t>𝑇𝑃</m:t>
                          </m:r>
                        </m:num>
                        <m:den>
                          <m:r>
                            <a:rPr lang="en-US" sz="1600" i="1">
                              <a:solidFill>
                                <a:schemeClr val="bg1"/>
                              </a:solidFill>
                            </a:rPr>
                            <m:t>𝑇𝑃</m:t>
                          </m:r>
                          <m:r>
                            <a:rPr lang="en-US" sz="1600" i="1">
                              <a:solidFill>
                                <a:schemeClr val="bg1"/>
                              </a:solidFill>
                            </a:rPr>
                            <m:t>+</m:t>
                          </m:r>
                          <m:r>
                            <a:rPr lang="en-US" sz="1600" i="1">
                              <a:solidFill>
                                <a:schemeClr val="bg1"/>
                              </a:solidFill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en-US" sz="1600" i="1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D446726-BA9C-4F40-86A7-CBC47A03BD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480" y="5111847"/>
                <a:ext cx="5166913" cy="1525838"/>
              </a:xfrm>
              <a:prstGeom prst="rect">
                <a:avLst/>
              </a:prstGeom>
              <a:blipFill>
                <a:blip r:embed="rId4"/>
                <a:stretch>
                  <a:fillRect l="-354" r="-3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6DBAC86-405A-406B-A2E6-7704F4613BDB}"/>
                  </a:ext>
                </a:extLst>
              </p:cNvPr>
              <p:cNvSpPr txBox="1"/>
              <p:nvPr/>
            </p:nvSpPr>
            <p:spPr>
              <a:xfrm>
                <a:off x="6372609" y="5111847"/>
                <a:ext cx="5166913" cy="1525838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/>
              <a:p>
                <a:pPr algn="ctr">
                  <a:lnSpc>
                    <a:spcPct val="150000"/>
                  </a:lnSpc>
                  <a:spcAft>
                    <a:spcPts val="1000"/>
                  </a:spcAft>
                </a:pPr>
                <a:r>
                  <a:rPr lang="en-US" altLang="ko-KR" dirty="0">
                    <a:solidFill>
                      <a:schemeClr val="bg1"/>
                    </a:solidFill>
                  </a:rPr>
                  <a:t>Harmonic mean of precision and recall.</a:t>
                </a:r>
              </a:p>
              <a:p>
                <a:pPr algn="ctr">
                  <a:lnSpc>
                    <a:spcPct val="150000"/>
                  </a:lnSpc>
                  <a:spcAft>
                    <a:spcPts val="1000"/>
                  </a:spcAft>
                </a:pP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chemeClr val="bg1"/>
                        </a:solidFill>
                      </a:rPr>
                      <m:t>𝐹</m:t>
                    </m:r>
                    <m:r>
                      <a:rPr lang="en-US" sz="1600" i="1" smtClean="0">
                        <a:solidFill>
                          <a:schemeClr val="bg1"/>
                        </a:solidFill>
                      </a:rPr>
                      <m:t>1−</m:t>
                    </m:r>
                    <m:r>
                      <a:rPr lang="en-US" sz="1600" i="1" smtClean="0">
                        <a:solidFill>
                          <a:schemeClr val="bg1"/>
                        </a:solidFill>
                      </a:rPr>
                      <m:t>𝑠𝑐𝑜𝑟𝑒</m:t>
                    </m:r>
                    <m:r>
                      <a:rPr lang="en-US" sz="1600" i="1" smtClean="0">
                        <a:solidFill>
                          <a:schemeClr val="bg1"/>
                        </a:solidFill>
                      </a:rPr>
                      <m:t>=2∗</m:t>
                    </m:r>
                    <m:f>
                      <m:fPr>
                        <m:ctrlPr>
                          <a:rPr lang="en-US" sz="1600" i="1">
                            <a:solidFill>
                              <a:schemeClr val="bg1"/>
                            </a:solidFill>
                          </a:rPr>
                        </m:ctrlPr>
                      </m:fPr>
                      <m:num>
                        <m:r>
                          <a:rPr lang="en-US" sz="1600" i="1">
                            <a:solidFill>
                              <a:schemeClr val="bg1"/>
                            </a:solidFill>
                          </a:rPr>
                          <m:t>𝑝𝑟𝑒𝑐𝑖𝑠𝑖𝑜𝑛</m:t>
                        </m:r>
                        <m:r>
                          <a:rPr lang="en-US" sz="1600" i="1">
                            <a:solidFill>
                              <a:schemeClr val="bg1"/>
                            </a:solidFill>
                          </a:rPr>
                          <m:t>∗</m:t>
                        </m:r>
                        <m:r>
                          <a:rPr lang="en-US" sz="1600" i="1">
                            <a:solidFill>
                              <a:schemeClr val="bg1"/>
                            </a:solidFill>
                          </a:rPr>
                          <m:t>𝑟𝑒𝑐𝑎𝑙𝑙</m:t>
                        </m:r>
                      </m:num>
                      <m:den>
                        <m:r>
                          <a:rPr lang="en-US" sz="1600" i="1">
                            <a:solidFill>
                              <a:schemeClr val="bg1"/>
                            </a:solidFill>
                          </a:rPr>
                          <m:t>𝑝𝑟𝑒𝑐𝑖𝑠𝑖𝑜𝑛</m:t>
                        </m:r>
                        <m:r>
                          <a:rPr lang="en-US" sz="1600" i="1">
                            <a:solidFill>
                              <a:schemeClr val="bg1"/>
                            </a:solidFill>
                          </a:rPr>
                          <m:t>+</m:t>
                        </m:r>
                        <m:r>
                          <a:rPr lang="en-US" sz="1600" i="1">
                            <a:solidFill>
                              <a:schemeClr val="bg1"/>
                            </a:solidFill>
                          </a:rPr>
                          <m:t>𝑟𝑒𝑐𝑎𝑙𝑙</m:t>
                        </m:r>
                      </m:den>
                    </m:f>
                  </m:oMath>
                </a14:m>
                <a:r>
                  <a:rPr lang="en-GB" sz="1600" dirty="0">
                    <a:solidFill>
                      <a:schemeClr val="bg1"/>
                    </a:solidFill>
                  </a:rPr>
                  <a:t> </a:t>
                </a:r>
                <a:endParaRPr lang="en-US" sz="1600" i="1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6DBAC86-405A-406B-A2E6-7704F4613B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2609" y="5111847"/>
                <a:ext cx="5166913" cy="15258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46480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comb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DA2D3C-9526-69E4-D2EE-A39FE51F8DDD}"/>
              </a:ext>
            </a:extLst>
          </p:cNvPr>
          <p:cNvSpPr/>
          <p:nvPr/>
        </p:nvSpPr>
        <p:spPr>
          <a:xfrm>
            <a:off x="3048" y="2733969"/>
            <a:ext cx="12188952" cy="14440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F8EF26-7AD5-4E7F-95B3-9A57CF80C483}"/>
              </a:ext>
            </a:extLst>
          </p:cNvPr>
          <p:cNvSpPr txBox="1"/>
          <p:nvPr/>
        </p:nvSpPr>
        <p:spPr>
          <a:xfrm>
            <a:off x="1524000" y="1122362"/>
            <a:ext cx="9144000" cy="29005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60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1080641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ontents Slide Master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ection Break Slide Master">
  <a:themeElements>
    <a:clrScheme name="ALLPPT-40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A9BD5"/>
      </a:accent1>
      <a:accent2>
        <a:srgbClr val="224A90"/>
      </a:accent2>
      <a:accent3>
        <a:srgbClr val="010A4F"/>
      </a:accent3>
      <a:accent4>
        <a:srgbClr val="5A9BD5"/>
      </a:accent4>
      <a:accent5>
        <a:srgbClr val="224A90"/>
      </a:accent5>
      <a:accent6>
        <a:srgbClr val="010A4F"/>
      </a:accent6>
      <a:hlink>
        <a:srgbClr val="262626"/>
      </a:hlink>
      <a:folHlink>
        <a:srgbClr val="262626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9093</TotalTime>
  <Words>1229</Words>
  <Application>Microsoft Office PowerPoint</Application>
  <PresentationFormat>Widescreen</PresentationFormat>
  <Paragraphs>148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Cambria Math</vt:lpstr>
      <vt:lpstr>Segoe UI</vt:lpstr>
      <vt:lpstr>Times New Roman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Classification Algorithms in Machine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Performance Metrics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revision>133</cp:revision>
  <dcterms:created xsi:type="dcterms:W3CDTF">2020-01-20T05:08:25Z</dcterms:created>
  <dcterms:modified xsi:type="dcterms:W3CDTF">2024-12-03T19:46:07Z</dcterms:modified>
</cp:coreProperties>
</file>